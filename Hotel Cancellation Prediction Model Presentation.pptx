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6858000" cy="9144000"/>
  <p:embeddedFontLst>
    <p:embeddedFont>
      <p:font typeface="Century" panose="02040604050505020304" pitchFamily="18" charset="0"/>
      <p:regular r:id="rId38"/>
    </p:embeddedFont>
    <p:embeddedFont>
      <p:font typeface="Cinzel Decorative" panose="020B0604020202020204" charset="0"/>
      <p:regular r:id="rId39"/>
      <p:bold r:id="rId40"/>
    </p:embeddedFont>
    <p:embeddedFont>
      <p:font typeface="Josefin Sans" panose="020F0502020204030204" pitchFamily="2" charset="0"/>
      <p:regular r:id="rId41"/>
      <p:bold r:id="rId42"/>
      <p:italic r:id="rId43"/>
      <p:boldItalic r:id="rId44"/>
    </p:embeddedFont>
    <p:embeddedFont>
      <p:font typeface="Josefin Sans Light" panose="020F0502020204030204" pitchFamily="2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jCnwd9AAE77CZo6ybLO5N8lIR1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57" autoAdjust="0"/>
  </p:normalViewPr>
  <p:slideViewPr>
    <p:cSldViewPr snapToGrid="0">
      <p:cViewPr varScale="1">
        <p:scale>
          <a:sx n="79" d="100"/>
          <a:sy n="79" d="100"/>
        </p:scale>
        <p:origin x="12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0833HTP\AppData\Local\Temp\Rar$DIa25996.46188\hotel_booking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tx1"/>
            </a:solidFill>
          </c:spPr>
          <c:dPt>
            <c:idx val="0"/>
            <c:bubble3D val="0"/>
            <c:spPr>
              <a:solidFill>
                <a:schemeClr val="bg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6AF-471D-80E8-EB6BB104E11C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6AF-471D-80E8-EB6BB104E11C}"/>
              </c:ext>
            </c:extLst>
          </c:dPt>
          <c:dPt>
            <c:idx val="2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6AF-471D-80E8-EB6BB104E11C}"/>
              </c:ext>
            </c:extLst>
          </c:dPt>
          <c:dPt>
            <c:idx val="3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96AF-471D-80E8-EB6BB104E11C}"/>
              </c:ext>
            </c:extLst>
          </c:dPt>
          <c:dPt>
            <c:idx val="4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96AF-471D-80E8-EB6BB104E11C}"/>
              </c:ext>
            </c:extLst>
          </c:dPt>
          <c:dPt>
            <c:idx val="5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96AF-471D-80E8-EB6BB104E11C}"/>
              </c:ext>
            </c:extLst>
          </c:dPt>
          <c:dPt>
            <c:idx val="6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96AF-471D-80E8-EB6BB104E11C}"/>
              </c:ext>
            </c:extLst>
          </c:dPt>
          <c:dPt>
            <c:idx val="7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96AF-471D-80E8-EB6BB104E11C}"/>
              </c:ext>
            </c:extLst>
          </c:dPt>
          <c:dLbls>
            <c:dLbl>
              <c:idx val="0"/>
              <c:layout>
                <c:manualLayout>
                  <c:x val="-0.24843851692795493"/>
                  <c:y val="-0.1626316860683771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tx1"/>
                      </a:solidFill>
                      <a:latin typeface="Cinzel Decorative" panose="020B060402020202020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443422458842803"/>
                      <c:h val="0.2214246209255301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6AF-471D-80E8-EB6BB104E11C}"/>
                </c:ext>
              </c:extLst>
            </c:dLbl>
            <c:dLbl>
              <c:idx val="1"/>
              <c:layout>
                <c:manualLayout>
                  <c:x val="7.641079020399523E-2"/>
                  <c:y val="-0.1011818008857975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AF-471D-80E8-EB6BB104E11C}"/>
                </c:ext>
              </c:extLst>
            </c:dLbl>
            <c:dLbl>
              <c:idx val="2"/>
              <c:layout>
                <c:manualLayout>
                  <c:x val="0.12500511447420751"/>
                  <c:y val="-2.397538172920787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AF-471D-80E8-EB6BB104E11C}"/>
                </c:ext>
              </c:extLst>
            </c:dLbl>
            <c:dLbl>
              <c:idx val="3"/>
              <c:layout>
                <c:manualLayout>
                  <c:x val="0.11145162143834836"/>
                  <c:y val="-1.9450380733681105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6AF-471D-80E8-EB6BB104E11C}"/>
                </c:ext>
              </c:extLst>
            </c:dLbl>
            <c:dLbl>
              <c:idx val="4"/>
              <c:layout>
                <c:manualLayout>
                  <c:x val="0.13624795625610669"/>
                  <c:y val="0.16205450177203765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6AF-471D-80E8-EB6BB104E11C}"/>
                </c:ext>
              </c:extLst>
            </c:dLbl>
            <c:dLbl>
              <c:idx val="5"/>
              <c:layout>
                <c:manualLayout>
                  <c:x val="0.11000374788669925"/>
                  <c:y val="-1.049063983611412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6AF-471D-80E8-EB6BB104E11C}"/>
                </c:ext>
              </c:extLst>
            </c:dLbl>
            <c:dLbl>
              <c:idx val="7"/>
              <c:layout>
                <c:manualLayout>
                  <c:x val="0.14566349869314954"/>
                  <c:y val="0.2171580144329257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6AF-471D-80E8-EB6BB104E1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2"/>
                    </a:solidFill>
                    <a:latin typeface="Cinzel Decorative" panose="020B060402020202020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Sheet1!$C$21:$C$25</c:f>
              <c:strCache>
                <c:ptCount val="5"/>
                <c:pt idx="0">
                  <c:v>Portugal</c:v>
                </c:pt>
                <c:pt idx="1">
                  <c:v>UK</c:v>
                </c:pt>
                <c:pt idx="2">
                  <c:v>France</c:v>
                </c:pt>
                <c:pt idx="3">
                  <c:v>Spain</c:v>
                </c:pt>
                <c:pt idx="4">
                  <c:v>Others</c:v>
                </c:pt>
              </c:strCache>
            </c:strRef>
          </c:cat>
          <c:val>
            <c:numRef>
              <c:f>Sheet1!$D$21:$D$25</c:f>
              <c:numCache>
                <c:formatCode>General</c:formatCode>
                <c:ptCount val="5"/>
                <c:pt idx="0">
                  <c:v>27519</c:v>
                </c:pt>
                <c:pt idx="1">
                  <c:v>2453</c:v>
                </c:pt>
                <c:pt idx="2">
                  <c:v>1934</c:v>
                </c:pt>
                <c:pt idx="3">
                  <c:v>2177</c:v>
                </c:pt>
                <c:pt idx="4">
                  <c:v>10141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96AF-471D-80E8-EB6BB104E11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9" name="Google Shape;38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8" name="Google Shape;40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0" name="Google Shape;43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0" name="Google Shape;49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5" name="Google Shape;50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7" name="Google Shape;55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8" name="Google Shape;5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8" name="Google Shape;68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7" name="Google Shape;697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9" name="Google Shape;74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8" name="Google Shape;788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7"/>
          <p:cNvSpPr txBox="1">
            <a:spLocks noGrp="1"/>
          </p:cNvSpPr>
          <p:nvPr>
            <p:ph type="ctrTitle"/>
          </p:nvPr>
        </p:nvSpPr>
        <p:spPr>
          <a:xfrm>
            <a:off x="1520150" y="1535075"/>
            <a:ext cx="3940500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37"/>
          <p:cNvSpPr txBox="1">
            <a:spLocks noGrp="1"/>
          </p:cNvSpPr>
          <p:nvPr>
            <p:ph type="subTitle" idx="1"/>
          </p:nvPr>
        </p:nvSpPr>
        <p:spPr>
          <a:xfrm>
            <a:off x="2340775" y="3602425"/>
            <a:ext cx="4462500" cy="4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37"/>
          <p:cNvGrpSpPr/>
          <p:nvPr/>
        </p:nvGrpSpPr>
        <p:grpSpPr>
          <a:xfrm>
            <a:off x="415200" y="221500"/>
            <a:ext cx="8313600" cy="4694650"/>
            <a:chOff x="415200" y="221500"/>
            <a:chExt cx="8313600" cy="4694650"/>
          </a:xfrm>
        </p:grpSpPr>
        <p:cxnSp>
          <p:nvCxnSpPr>
            <p:cNvPr id="12" name="Google Shape;12;p37"/>
            <p:cNvCxnSpPr/>
            <p:nvPr/>
          </p:nvCxnSpPr>
          <p:spPr>
            <a:xfrm rot="-5400000">
              <a:off x="294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" name="Google Shape;13;p37"/>
            <p:cNvCxnSpPr/>
            <p:nvPr/>
          </p:nvCxnSpPr>
          <p:spPr>
            <a:xfrm rot="-5400000">
              <a:off x="83430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4" name="Google Shape;14;p37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15" name="Google Shape;15;p37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6" name="Google Shape;16;p37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" name="Google Shape;17;p37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8" name="Google Shape;18;p37"/>
            <p:cNvGrpSpPr/>
            <p:nvPr/>
          </p:nvGrpSpPr>
          <p:grpSpPr>
            <a:xfrm>
              <a:off x="2804975" y="4811450"/>
              <a:ext cx="3559250" cy="104700"/>
              <a:chOff x="2805000" y="488200"/>
              <a:chExt cx="3559250" cy="104700"/>
            </a:xfrm>
          </p:grpSpPr>
          <p:sp>
            <p:nvSpPr>
              <p:cNvPr id="19" name="Google Shape;19;p37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" name="Google Shape;20;p37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1" name="Google Shape;21;p37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8"/>
          <p:cNvSpPr txBox="1">
            <a:spLocks noGrp="1"/>
          </p:cNvSpPr>
          <p:nvPr>
            <p:ph type="title"/>
          </p:nvPr>
        </p:nvSpPr>
        <p:spPr>
          <a:xfrm>
            <a:off x="2111550" y="1452787"/>
            <a:ext cx="231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38"/>
          <p:cNvSpPr txBox="1">
            <a:spLocks noGrp="1"/>
          </p:cNvSpPr>
          <p:nvPr>
            <p:ph type="title" idx="2"/>
          </p:nvPr>
        </p:nvSpPr>
        <p:spPr>
          <a:xfrm>
            <a:off x="720000" y="1440722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5" name="Google Shape;25;p38"/>
          <p:cNvSpPr txBox="1">
            <a:spLocks noGrp="1"/>
          </p:cNvSpPr>
          <p:nvPr>
            <p:ph type="subTitle" idx="1"/>
          </p:nvPr>
        </p:nvSpPr>
        <p:spPr>
          <a:xfrm>
            <a:off x="823871" y="2109750"/>
            <a:ext cx="20598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8"/>
          <p:cNvSpPr txBox="1">
            <a:spLocks noGrp="1"/>
          </p:cNvSpPr>
          <p:nvPr>
            <p:ph type="title" idx="3"/>
          </p:nvPr>
        </p:nvSpPr>
        <p:spPr>
          <a:xfrm>
            <a:off x="720000" y="363952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8"/>
          <p:cNvSpPr txBox="1">
            <a:spLocks noGrp="1"/>
          </p:cNvSpPr>
          <p:nvPr>
            <p:ph type="title" idx="4"/>
          </p:nvPr>
        </p:nvSpPr>
        <p:spPr>
          <a:xfrm>
            <a:off x="6110100" y="1452787"/>
            <a:ext cx="231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38"/>
          <p:cNvSpPr txBox="1">
            <a:spLocks noGrp="1"/>
          </p:cNvSpPr>
          <p:nvPr>
            <p:ph type="title" idx="5"/>
          </p:nvPr>
        </p:nvSpPr>
        <p:spPr>
          <a:xfrm>
            <a:off x="4718550" y="1440722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9" name="Google Shape;29;p38"/>
          <p:cNvSpPr txBox="1">
            <a:spLocks noGrp="1"/>
          </p:cNvSpPr>
          <p:nvPr>
            <p:ph type="subTitle" idx="6"/>
          </p:nvPr>
        </p:nvSpPr>
        <p:spPr>
          <a:xfrm>
            <a:off x="4822421" y="2109750"/>
            <a:ext cx="20598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8"/>
          <p:cNvSpPr txBox="1">
            <a:spLocks noGrp="1"/>
          </p:cNvSpPr>
          <p:nvPr>
            <p:ph type="title" idx="7"/>
          </p:nvPr>
        </p:nvSpPr>
        <p:spPr>
          <a:xfrm>
            <a:off x="2111550" y="3159937"/>
            <a:ext cx="231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38"/>
          <p:cNvSpPr txBox="1">
            <a:spLocks noGrp="1"/>
          </p:cNvSpPr>
          <p:nvPr>
            <p:ph type="title" idx="8"/>
          </p:nvPr>
        </p:nvSpPr>
        <p:spPr>
          <a:xfrm>
            <a:off x="720000" y="3147872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38"/>
          <p:cNvSpPr txBox="1">
            <a:spLocks noGrp="1"/>
          </p:cNvSpPr>
          <p:nvPr>
            <p:ph type="subTitle" idx="9"/>
          </p:nvPr>
        </p:nvSpPr>
        <p:spPr>
          <a:xfrm>
            <a:off x="823871" y="3816900"/>
            <a:ext cx="20598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38"/>
          <p:cNvSpPr txBox="1">
            <a:spLocks noGrp="1"/>
          </p:cNvSpPr>
          <p:nvPr>
            <p:ph type="title" idx="13"/>
          </p:nvPr>
        </p:nvSpPr>
        <p:spPr>
          <a:xfrm>
            <a:off x="6110100" y="3159937"/>
            <a:ext cx="231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8"/>
          <p:cNvSpPr txBox="1">
            <a:spLocks noGrp="1"/>
          </p:cNvSpPr>
          <p:nvPr>
            <p:ph type="title" idx="14"/>
          </p:nvPr>
        </p:nvSpPr>
        <p:spPr>
          <a:xfrm>
            <a:off x="4718550" y="3147872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subTitle" idx="15"/>
          </p:nvPr>
        </p:nvSpPr>
        <p:spPr>
          <a:xfrm>
            <a:off x="4822421" y="3816900"/>
            <a:ext cx="2059800" cy="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6" name="Google Shape;36;p38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37" name="Google Shape;37;p38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" name="Google Shape;38;p38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39;p38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>
            <a:spLocks noGrp="1"/>
          </p:cNvSpPr>
          <p:nvPr>
            <p:ph type="ctrTitle"/>
          </p:nvPr>
        </p:nvSpPr>
        <p:spPr>
          <a:xfrm>
            <a:off x="1810100" y="540000"/>
            <a:ext cx="55236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subTitle" idx="1"/>
          </p:nvPr>
        </p:nvSpPr>
        <p:spPr>
          <a:xfrm>
            <a:off x="3046275" y="1834474"/>
            <a:ext cx="3051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43" name="Google Shape;43;p39"/>
          <p:cNvGrpSpPr/>
          <p:nvPr/>
        </p:nvGrpSpPr>
        <p:grpSpPr>
          <a:xfrm>
            <a:off x="415200" y="221500"/>
            <a:ext cx="8313600" cy="4694650"/>
            <a:chOff x="415200" y="221500"/>
            <a:chExt cx="8313600" cy="4694650"/>
          </a:xfrm>
        </p:grpSpPr>
        <p:cxnSp>
          <p:nvCxnSpPr>
            <p:cNvPr id="44" name="Google Shape;44;p39"/>
            <p:cNvCxnSpPr/>
            <p:nvPr/>
          </p:nvCxnSpPr>
          <p:spPr>
            <a:xfrm rot="-5400000">
              <a:off x="294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39"/>
            <p:cNvCxnSpPr/>
            <p:nvPr/>
          </p:nvCxnSpPr>
          <p:spPr>
            <a:xfrm rot="-5400000">
              <a:off x="83430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6" name="Google Shape;46;p39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47" name="Google Shape;47;p39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" name="Google Shape;48;p39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" name="Google Shape;49;p39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50" name="Google Shape;50;p39"/>
            <p:cNvGrpSpPr/>
            <p:nvPr/>
          </p:nvGrpSpPr>
          <p:grpSpPr>
            <a:xfrm>
              <a:off x="2804975" y="4811450"/>
              <a:ext cx="3559250" cy="104700"/>
              <a:chOff x="2805000" y="488200"/>
              <a:chExt cx="3559250" cy="104700"/>
            </a:xfrm>
          </p:grpSpPr>
          <p:sp>
            <p:nvSpPr>
              <p:cNvPr id="51" name="Google Shape;51;p39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2" name="Google Shape;52;p39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39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subTitle" idx="1"/>
          </p:nvPr>
        </p:nvSpPr>
        <p:spPr>
          <a:xfrm>
            <a:off x="720000" y="2571700"/>
            <a:ext cx="34701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title"/>
          </p:nvPr>
        </p:nvSpPr>
        <p:spPr>
          <a:xfrm>
            <a:off x="720000" y="972975"/>
            <a:ext cx="3470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/>
          <p:nvPr/>
        </p:nvSpPr>
        <p:spPr>
          <a:xfrm>
            <a:off x="6381300" y="0"/>
            <a:ext cx="2762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grpSp>
        <p:nvGrpSpPr>
          <p:cNvPr id="61" name="Google Shape;61;p41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62" name="Google Shape;62;p41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" name="Google Shape;63;p41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41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720009" y="2671763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subTitle" idx="1"/>
          </p:nvPr>
        </p:nvSpPr>
        <p:spPr>
          <a:xfrm>
            <a:off x="720009" y="3205163"/>
            <a:ext cx="1645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title" idx="2"/>
          </p:nvPr>
        </p:nvSpPr>
        <p:spPr>
          <a:xfrm>
            <a:off x="4758811" y="2671763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subTitle" idx="3"/>
          </p:nvPr>
        </p:nvSpPr>
        <p:spPr>
          <a:xfrm>
            <a:off x="4758806" y="3205163"/>
            <a:ext cx="1645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title" idx="4"/>
          </p:nvPr>
        </p:nvSpPr>
        <p:spPr>
          <a:xfrm>
            <a:off x="2739410" y="2671763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ubTitle" idx="5"/>
          </p:nvPr>
        </p:nvSpPr>
        <p:spPr>
          <a:xfrm>
            <a:off x="2739408" y="3205163"/>
            <a:ext cx="1645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2"/>
          <p:cNvSpPr txBox="1">
            <a:spLocks noGrp="1"/>
          </p:cNvSpPr>
          <p:nvPr>
            <p:ph type="title" idx="6"/>
          </p:nvPr>
        </p:nvSpPr>
        <p:spPr>
          <a:xfrm>
            <a:off x="6778212" y="2671763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3" name="Google Shape;73;p42"/>
          <p:cNvSpPr txBox="1">
            <a:spLocks noGrp="1"/>
          </p:cNvSpPr>
          <p:nvPr>
            <p:ph type="subTitle" idx="7"/>
          </p:nvPr>
        </p:nvSpPr>
        <p:spPr>
          <a:xfrm>
            <a:off x="6778205" y="3205163"/>
            <a:ext cx="1645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title" idx="8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42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76" name="Google Shape;76;p42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" name="Google Shape;77;p42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42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3"/>
          <p:cNvSpPr txBox="1">
            <a:spLocks noGrp="1"/>
          </p:cNvSpPr>
          <p:nvPr>
            <p:ph type="title"/>
          </p:nvPr>
        </p:nvSpPr>
        <p:spPr>
          <a:xfrm>
            <a:off x="3367513" y="1747450"/>
            <a:ext cx="4218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title" idx="2"/>
          </p:nvPr>
        </p:nvSpPr>
        <p:spPr>
          <a:xfrm>
            <a:off x="1405188" y="951810"/>
            <a:ext cx="2294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1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subTitle" idx="1"/>
          </p:nvPr>
        </p:nvSpPr>
        <p:spPr>
          <a:xfrm>
            <a:off x="2286000" y="378060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3" name="Google Shape;83;p43"/>
          <p:cNvGrpSpPr/>
          <p:nvPr/>
        </p:nvGrpSpPr>
        <p:grpSpPr>
          <a:xfrm>
            <a:off x="415200" y="221500"/>
            <a:ext cx="8313600" cy="4694650"/>
            <a:chOff x="415200" y="221500"/>
            <a:chExt cx="8313600" cy="4694650"/>
          </a:xfrm>
        </p:grpSpPr>
        <p:cxnSp>
          <p:nvCxnSpPr>
            <p:cNvPr id="84" name="Google Shape;84;p43"/>
            <p:cNvCxnSpPr/>
            <p:nvPr/>
          </p:nvCxnSpPr>
          <p:spPr>
            <a:xfrm rot="-5400000">
              <a:off x="294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43"/>
            <p:cNvCxnSpPr/>
            <p:nvPr/>
          </p:nvCxnSpPr>
          <p:spPr>
            <a:xfrm rot="-5400000">
              <a:off x="83430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86" name="Google Shape;86;p43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87" name="Google Shape;87;p43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8" name="Google Shape;88;p43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43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90" name="Google Shape;90;p43"/>
            <p:cNvGrpSpPr/>
            <p:nvPr/>
          </p:nvGrpSpPr>
          <p:grpSpPr>
            <a:xfrm>
              <a:off x="2804975" y="4811450"/>
              <a:ext cx="3559250" cy="104700"/>
              <a:chOff x="2805000" y="488200"/>
              <a:chExt cx="3559250" cy="104700"/>
            </a:xfrm>
          </p:grpSpPr>
          <p:sp>
            <p:nvSpPr>
              <p:cNvPr id="91" name="Google Shape;91;p43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" name="Google Shape;92;p43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43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BLANK_1_1_1_2_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4"/>
          <p:cNvSpPr txBox="1">
            <a:spLocks noGrp="1"/>
          </p:cNvSpPr>
          <p:nvPr>
            <p:ph type="title"/>
          </p:nvPr>
        </p:nvSpPr>
        <p:spPr>
          <a:xfrm>
            <a:off x="720000" y="3968075"/>
            <a:ext cx="233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6" name="Google Shape;96;p44"/>
          <p:cNvSpPr txBox="1">
            <a:spLocks noGrp="1"/>
          </p:cNvSpPr>
          <p:nvPr>
            <p:ph type="subTitle" idx="1"/>
          </p:nvPr>
        </p:nvSpPr>
        <p:spPr>
          <a:xfrm>
            <a:off x="720000" y="1834475"/>
            <a:ext cx="2336400" cy="155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44"/>
          <p:cNvSpPr txBox="1">
            <a:spLocks noGrp="1"/>
          </p:cNvSpPr>
          <p:nvPr>
            <p:ph type="title" idx="2"/>
          </p:nvPr>
        </p:nvSpPr>
        <p:spPr>
          <a:xfrm>
            <a:off x="3403800" y="3968075"/>
            <a:ext cx="233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98" name="Google Shape;98;p44"/>
          <p:cNvSpPr txBox="1">
            <a:spLocks noGrp="1"/>
          </p:cNvSpPr>
          <p:nvPr>
            <p:ph type="subTitle" idx="3"/>
          </p:nvPr>
        </p:nvSpPr>
        <p:spPr>
          <a:xfrm>
            <a:off x="3403800" y="1834475"/>
            <a:ext cx="2336400" cy="155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4"/>
          <p:cNvSpPr txBox="1">
            <a:spLocks noGrp="1"/>
          </p:cNvSpPr>
          <p:nvPr>
            <p:ph type="title" idx="4"/>
          </p:nvPr>
        </p:nvSpPr>
        <p:spPr>
          <a:xfrm>
            <a:off x="6087600" y="3968075"/>
            <a:ext cx="233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00" name="Google Shape;100;p44"/>
          <p:cNvSpPr txBox="1">
            <a:spLocks noGrp="1"/>
          </p:cNvSpPr>
          <p:nvPr>
            <p:ph type="subTitle" idx="5"/>
          </p:nvPr>
        </p:nvSpPr>
        <p:spPr>
          <a:xfrm>
            <a:off x="6087600" y="1834475"/>
            <a:ext cx="2336400" cy="155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4"/>
          <p:cNvSpPr txBox="1">
            <a:spLocks noGrp="1"/>
          </p:cNvSpPr>
          <p:nvPr>
            <p:ph type="title" idx="6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2" name="Google Shape;102;p44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103" name="Google Shape;103;p44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4" name="Google Shape;104;p44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44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5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8" name="Google Shape;108;p45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109" name="Google Shape;109;p45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0" name="Google Shape;110;p45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45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6"/>
          <p:cNvSpPr txBox="1">
            <a:spLocks noGrp="1"/>
          </p:cNvSpPr>
          <p:nvPr>
            <p:ph type="title"/>
          </p:nvPr>
        </p:nvSpPr>
        <p:spPr>
          <a:xfrm>
            <a:off x="720000" y="2667900"/>
            <a:ext cx="233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4" name="Google Shape;114;p46"/>
          <p:cNvSpPr txBox="1">
            <a:spLocks noGrp="1"/>
          </p:cNvSpPr>
          <p:nvPr>
            <p:ph type="subTitle" idx="1"/>
          </p:nvPr>
        </p:nvSpPr>
        <p:spPr>
          <a:xfrm>
            <a:off x="720000" y="3201300"/>
            <a:ext cx="2336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6"/>
          <p:cNvSpPr txBox="1">
            <a:spLocks noGrp="1"/>
          </p:cNvSpPr>
          <p:nvPr>
            <p:ph type="title" idx="2"/>
          </p:nvPr>
        </p:nvSpPr>
        <p:spPr>
          <a:xfrm>
            <a:off x="3403800" y="2667900"/>
            <a:ext cx="233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6" name="Google Shape;116;p46"/>
          <p:cNvSpPr txBox="1">
            <a:spLocks noGrp="1"/>
          </p:cNvSpPr>
          <p:nvPr>
            <p:ph type="subTitle" idx="3"/>
          </p:nvPr>
        </p:nvSpPr>
        <p:spPr>
          <a:xfrm>
            <a:off x="3403800" y="3201300"/>
            <a:ext cx="2336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6"/>
          <p:cNvSpPr txBox="1">
            <a:spLocks noGrp="1"/>
          </p:cNvSpPr>
          <p:nvPr>
            <p:ph type="title" idx="4"/>
          </p:nvPr>
        </p:nvSpPr>
        <p:spPr>
          <a:xfrm>
            <a:off x="6087600" y="2667900"/>
            <a:ext cx="233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18" name="Google Shape;118;p46"/>
          <p:cNvSpPr txBox="1">
            <a:spLocks noGrp="1"/>
          </p:cNvSpPr>
          <p:nvPr>
            <p:ph type="subTitle" idx="5"/>
          </p:nvPr>
        </p:nvSpPr>
        <p:spPr>
          <a:xfrm>
            <a:off x="6087600" y="3201300"/>
            <a:ext cx="2336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46"/>
          <p:cNvSpPr txBox="1">
            <a:spLocks noGrp="1"/>
          </p:cNvSpPr>
          <p:nvPr>
            <p:ph type="title" idx="6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0" name="Google Shape;120;p46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121" name="Google Shape;121;p46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" name="Google Shape;122;p46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46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7"/>
          <p:cNvSpPr txBox="1">
            <a:spLocks noGrp="1"/>
          </p:cNvSpPr>
          <p:nvPr>
            <p:ph type="title"/>
          </p:nvPr>
        </p:nvSpPr>
        <p:spPr>
          <a:xfrm>
            <a:off x="2290025" y="3392700"/>
            <a:ext cx="45639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6" name="Google Shape;126;p47"/>
          <p:cNvSpPr txBox="1">
            <a:spLocks noGrp="1"/>
          </p:cNvSpPr>
          <p:nvPr>
            <p:ph type="subTitle" idx="1"/>
          </p:nvPr>
        </p:nvSpPr>
        <p:spPr>
          <a:xfrm>
            <a:off x="1023700" y="1188100"/>
            <a:ext cx="7096500" cy="17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127" name="Google Shape;127;p47"/>
          <p:cNvGrpSpPr/>
          <p:nvPr/>
        </p:nvGrpSpPr>
        <p:grpSpPr>
          <a:xfrm>
            <a:off x="415200" y="221500"/>
            <a:ext cx="8313600" cy="4694650"/>
            <a:chOff x="415200" y="221500"/>
            <a:chExt cx="8313600" cy="4694650"/>
          </a:xfrm>
        </p:grpSpPr>
        <p:cxnSp>
          <p:nvCxnSpPr>
            <p:cNvPr id="128" name="Google Shape;128;p47"/>
            <p:cNvCxnSpPr/>
            <p:nvPr/>
          </p:nvCxnSpPr>
          <p:spPr>
            <a:xfrm rot="-5400000">
              <a:off x="294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47"/>
            <p:cNvCxnSpPr/>
            <p:nvPr/>
          </p:nvCxnSpPr>
          <p:spPr>
            <a:xfrm rot="-5400000">
              <a:off x="83430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30" name="Google Shape;130;p47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131" name="Google Shape;131;p47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2" name="Google Shape;132;p47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47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34" name="Google Shape;134;p47"/>
            <p:cNvGrpSpPr/>
            <p:nvPr/>
          </p:nvGrpSpPr>
          <p:grpSpPr>
            <a:xfrm>
              <a:off x="2804975" y="4811450"/>
              <a:ext cx="3559250" cy="104700"/>
              <a:chOff x="2805000" y="488200"/>
              <a:chExt cx="3559250" cy="104700"/>
            </a:xfrm>
          </p:grpSpPr>
          <p:sp>
            <p:nvSpPr>
              <p:cNvPr id="135" name="Google Shape;135;p47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6" name="Google Shape;136;p47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37" name="Google Shape;137;p47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48"/>
          <p:cNvGrpSpPr/>
          <p:nvPr/>
        </p:nvGrpSpPr>
        <p:grpSpPr>
          <a:xfrm>
            <a:off x="415200" y="221500"/>
            <a:ext cx="8313600" cy="4694650"/>
            <a:chOff x="415200" y="221500"/>
            <a:chExt cx="8313600" cy="4694650"/>
          </a:xfrm>
        </p:grpSpPr>
        <p:cxnSp>
          <p:nvCxnSpPr>
            <p:cNvPr id="140" name="Google Shape;140;p48"/>
            <p:cNvCxnSpPr/>
            <p:nvPr/>
          </p:nvCxnSpPr>
          <p:spPr>
            <a:xfrm rot="-5400000">
              <a:off x="294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1" name="Google Shape;141;p48"/>
            <p:cNvCxnSpPr/>
            <p:nvPr/>
          </p:nvCxnSpPr>
          <p:spPr>
            <a:xfrm rot="-5400000">
              <a:off x="8343000" y="2571750"/>
              <a:ext cx="7716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42" name="Google Shape;142;p48"/>
            <p:cNvGrpSpPr/>
            <p:nvPr/>
          </p:nvGrpSpPr>
          <p:grpSpPr>
            <a:xfrm>
              <a:off x="2804975" y="221500"/>
              <a:ext cx="3559250" cy="104700"/>
              <a:chOff x="2805000" y="488200"/>
              <a:chExt cx="3559250" cy="104700"/>
            </a:xfrm>
          </p:grpSpPr>
          <p:sp>
            <p:nvSpPr>
              <p:cNvPr id="143" name="Google Shape;143;p48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4" name="Google Shape;144;p48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5" name="Google Shape;145;p48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46" name="Google Shape;146;p48"/>
            <p:cNvGrpSpPr/>
            <p:nvPr/>
          </p:nvGrpSpPr>
          <p:grpSpPr>
            <a:xfrm>
              <a:off x="2804975" y="4811450"/>
              <a:ext cx="3559250" cy="104700"/>
              <a:chOff x="2805000" y="488200"/>
              <a:chExt cx="3559250" cy="104700"/>
            </a:xfrm>
          </p:grpSpPr>
          <p:sp>
            <p:nvSpPr>
              <p:cNvPr id="147" name="Google Shape;147;p48"/>
              <p:cNvSpPr/>
              <p:nvPr/>
            </p:nvSpPr>
            <p:spPr>
              <a:xfrm>
                <a:off x="4519675" y="488200"/>
                <a:ext cx="104700" cy="104700"/>
              </a:xfrm>
              <a:prstGeom prst="star4">
                <a:avLst>
                  <a:gd name="adj" fmla="val 125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8" name="Google Shape;148;p48"/>
              <p:cNvCxnSpPr/>
              <p:nvPr/>
            </p:nvCxnSpPr>
            <p:spPr>
              <a:xfrm rot="10800000">
                <a:off x="2805000" y="540550"/>
                <a:ext cx="1557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49" name="Google Shape;149;p48"/>
              <p:cNvCxnSpPr/>
              <p:nvPr/>
            </p:nvCxnSpPr>
            <p:spPr>
              <a:xfrm rot="10800000">
                <a:off x="4782050" y="540550"/>
                <a:ext cx="15822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49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152" name="Google Shape;152;p49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" name="Google Shape;153;p49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4" name="Google Shape;154;p49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  <a:defRPr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rmorant Garamond"/>
              <a:buNone/>
              <a:defRPr sz="3000" b="1" i="0" u="none" strike="noStrike" cap="none">
                <a:solidFill>
                  <a:schemeClr val="lt1"/>
                </a:solidFill>
                <a:latin typeface="Cormorant Garamond"/>
                <a:ea typeface="Cormorant Garamond"/>
                <a:cs typeface="Cormorant Garamond"/>
                <a:sym typeface="Cormorant Garamond"/>
              </a:defRPr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●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Char char="○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Char char="■"/>
              <a:defRPr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>
            <a:spLocks noGrp="1"/>
          </p:cNvSpPr>
          <p:nvPr>
            <p:ph type="ctrTitle"/>
          </p:nvPr>
        </p:nvSpPr>
        <p:spPr>
          <a:xfrm>
            <a:off x="1520150" y="1535075"/>
            <a:ext cx="4973326" cy="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Bi hotel &amp;</a:t>
            </a:r>
            <a:endParaRPr/>
          </a:p>
        </p:txBody>
      </p:sp>
      <p:sp>
        <p:nvSpPr>
          <p:cNvPr id="160" name="Google Shape;160;p1"/>
          <p:cNvSpPr txBox="1">
            <a:spLocks noGrp="1"/>
          </p:cNvSpPr>
          <p:nvPr>
            <p:ph type="subTitle" idx="1"/>
          </p:nvPr>
        </p:nvSpPr>
        <p:spPr>
          <a:xfrm>
            <a:off x="2340775" y="4361831"/>
            <a:ext cx="4462500" cy="268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800" cap="none" dirty="0"/>
            </a:br>
            <a:r>
              <a:rPr lang="en-US" sz="800" cap="none" dirty="0"/>
              <a:t>CLIENT RELATIONSHIP MANAGEMENT DEPARTMENT</a:t>
            </a:r>
            <a:endParaRPr dirty="0"/>
          </a:p>
        </p:txBody>
      </p:sp>
      <p:sp>
        <p:nvSpPr>
          <p:cNvPr id="161" name="Google Shape;161;p1"/>
          <p:cNvSpPr txBox="1">
            <a:spLocks noGrp="1"/>
          </p:cNvSpPr>
          <p:nvPr>
            <p:ph type="subTitle" idx="1"/>
          </p:nvPr>
        </p:nvSpPr>
        <p:spPr>
          <a:xfrm>
            <a:off x="3847574" y="2129754"/>
            <a:ext cx="3671511" cy="8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6000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 resort</a:t>
            </a:r>
            <a:endParaRPr sz="2900"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cxnSp>
        <p:nvCxnSpPr>
          <p:cNvPr id="162" name="Google Shape;162;p1"/>
          <p:cNvCxnSpPr/>
          <p:nvPr/>
        </p:nvCxnSpPr>
        <p:spPr>
          <a:xfrm>
            <a:off x="2585475" y="2568825"/>
            <a:ext cx="12342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p1"/>
          <p:cNvSpPr txBox="1">
            <a:spLocks noGrp="1"/>
          </p:cNvSpPr>
          <p:nvPr>
            <p:ph type="subTitle" idx="1"/>
          </p:nvPr>
        </p:nvSpPr>
        <p:spPr>
          <a:xfrm>
            <a:off x="2151203" y="3443769"/>
            <a:ext cx="4652072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latin typeface="Josefin Sans Light"/>
                <a:ea typeface="Josefin Sans Light"/>
                <a:cs typeface="Josefin Sans Light"/>
                <a:sym typeface="Josefin Sans Light"/>
              </a:rPr>
              <a:t>Booking Cancellation:</a:t>
            </a:r>
            <a:br>
              <a:rPr lang="en-US" sz="2000">
                <a:latin typeface="Josefin Sans Light"/>
                <a:ea typeface="Josefin Sans Light"/>
                <a:cs typeface="Josefin Sans Light"/>
                <a:sym typeface="Josefin Sans Light"/>
              </a:rPr>
            </a:br>
            <a:r>
              <a:rPr lang="en-US" sz="2000">
                <a:latin typeface="Josefin Sans Light"/>
                <a:ea typeface="Josefin Sans Light"/>
                <a:cs typeface="Josefin Sans Light"/>
                <a:sym typeface="Josefin Sans Light"/>
              </a:rPr>
              <a:t>A </a:t>
            </a:r>
            <a:r>
              <a:rPr lang="en-US" sz="2000"/>
              <a:t>bigger</a:t>
            </a:r>
            <a:r>
              <a:rPr lang="en-US" sz="2000">
                <a:latin typeface="Josefin Sans Light"/>
                <a:ea typeface="Josefin Sans Light"/>
                <a:cs typeface="Josefin Sans Light"/>
                <a:sym typeface="Josefin Sans Light"/>
              </a:rPr>
              <a:t> problem that you thought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"/>
          <p:cNvSpPr txBox="1">
            <a:spLocks noGrp="1"/>
          </p:cNvSpPr>
          <p:nvPr>
            <p:ph type="title"/>
          </p:nvPr>
        </p:nvSpPr>
        <p:spPr>
          <a:xfrm>
            <a:off x="1934285" y="1368119"/>
            <a:ext cx="525102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About the Company</a:t>
            </a:r>
            <a:endParaRPr/>
          </a:p>
        </p:txBody>
      </p:sp>
      <p:sp>
        <p:nvSpPr>
          <p:cNvPr id="169" name="Google Shape;169;p2"/>
          <p:cNvSpPr txBox="1">
            <a:spLocks noGrp="1"/>
          </p:cNvSpPr>
          <p:nvPr>
            <p:ph type="title" idx="2"/>
          </p:nvPr>
        </p:nvSpPr>
        <p:spPr>
          <a:xfrm>
            <a:off x="1036244" y="1356054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>
                <a:latin typeface="Century"/>
                <a:ea typeface="Century"/>
                <a:cs typeface="Century"/>
                <a:sym typeface="Century"/>
              </a:rPr>
              <a:t>1</a:t>
            </a:r>
            <a:endParaRPr>
              <a:latin typeface="Century"/>
              <a:ea typeface="Century"/>
              <a:cs typeface="Century"/>
              <a:sym typeface="Century"/>
            </a:endParaRPr>
          </a:p>
        </p:txBody>
      </p:sp>
      <p:sp>
        <p:nvSpPr>
          <p:cNvPr id="170" name="Google Shape;170;p2"/>
          <p:cNvSpPr txBox="1">
            <a:spLocks noGrp="1"/>
          </p:cNvSpPr>
          <p:nvPr>
            <p:ph type="title" idx="3"/>
          </p:nvPr>
        </p:nvSpPr>
        <p:spPr>
          <a:xfrm>
            <a:off x="720000" y="363952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Table of contents</a:t>
            </a:r>
            <a:endParaRPr/>
          </a:p>
        </p:txBody>
      </p:sp>
      <p:sp>
        <p:nvSpPr>
          <p:cNvPr id="171" name="Google Shape;171;p2"/>
          <p:cNvSpPr txBox="1">
            <a:spLocks noGrp="1"/>
          </p:cNvSpPr>
          <p:nvPr>
            <p:ph type="title" idx="7"/>
          </p:nvPr>
        </p:nvSpPr>
        <p:spPr>
          <a:xfrm>
            <a:off x="1985368" y="2448324"/>
            <a:ext cx="492872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Insights &amp; Actions</a:t>
            </a:r>
            <a:endParaRPr/>
          </a:p>
        </p:txBody>
      </p:sp>
      <p:sp>
        <p:nvSpPr>
          <p:cNvPr id="172" name="Google Shape;172;p2"/>
          <p:cNvSpPr txBox="1">
            <a:spLocks noGrp="1"/>
          </p:cNvSpPr>
          <p:nvPr>
            <p:ph type="title" idx="8"/>
          </p:nvPr>
        </p:nvSpPr>
        <p:spPr>
          <a:xfrm>
            <a:off x="1036244" y="2436259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3</a:t>
            </a:r>
            <a:endParaRPr/>
          </a:p>
        </p:txBody>
      </p:sp>
      <p:grpSp>
        <p:nvGrpSpPr>
          <p:cNvPr id="173" name="Google Shape;173;p2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174" name="Google Shape;174;p2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" name="Google Shape;175;p2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6" name="Google Shape;176;p2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7" name="Google Shape;177;p2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1935674" y="1898998"/>
            <a:ext cx="534911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inzel Decorative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About the analysis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1053178" y="1886933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Decorative"/>
              <a:buNone/>
            </a:pPr>
            <a:r>
              <a:rPr lang="en-US" sz="29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2</a:t>
            </a:r>
            <a:endParaRPr/>
          </a:p>
        </p:txBody>
      </p:sp>
      <p:sp>
        <p:nvSpPr>
          <p:cNvPr id="180" name="Google Shape;180;p2"/>
          <p:cNvSpPr txBox="1"/>
          <p:nvPr/>
        </p:nvSpPr>
        <p:spPr>
          <a:xfrm>
            <a:off x="1985368" y="2971780"/>
            <a:ext cx="492872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inzel Decorative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Risks &amp; limitations</a:t>
            </a:r>
            <a:endParaRPr/>
          </a:p>
        </p:txBody>
      </p:sp>
      <p:sp>
        <p:nvSpPr>
          <p:cNvPr id="181" name="Google Shape;181;p2"/>
          <p:cNvSpPr txBox="1"/>
          <p:nvPr/>
        </p:nvSpPr>
        <p:spPr>
          <a:xfrm>
            <a:off x="1036244" y="2959715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Decorative"/>
              <a:buNone/>
            </a:pPr>
            <a:r>
              <a:rPr lang="en-US" sz="29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4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2002303" y="3497534"/>
            <a:ext cx="4928721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inzel Decorative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Next step</a:t>
            </a:r>
            <a:endParaRPr/>
          </a:p>
        </p:txBody>
      </p:sp>
      <p:sp>
        <p:nvSpPr>
          <p:cNvPr id="183" name="Google Shape;183;p2"/>
          <p:cNvSpPr txBox="1"/>
          <p:nvPr/>
        </p:nvSpPr>
        <p:spPr>
          <a:xfrm>
            <a:off x="1053179" y="3485469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Decorative"/>
              <a:buNone/>
            </a:pPr>
            <a:r>
              <a:rPr lang="en-US" sz="29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5</a:t>
            </a:r>
            <a:endParaRPr/>
          </a:p>
        </p:txBody>
      </p:sp>
      <p:sp>
        <p:nvSpPr>
          <p:cNvPr id="184" name="Google Shape;184;p2"/>
          <p:cNvSpPr txBox="1"/>
          <p:nvPr/>
        </p:nvSpPr>
        <p:spPr>
          <a:xfrm>
            <a:off x="1974237" y="4034795"/>
            <a:ext cx="5883217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inzel Decorative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Interesting findings</a:t>
            </a:r>
            <a:endParaRPr/>
          </a:p>
        </p:txBody>
      </p:sp>
      <p:sp>
        <p:nvSpPr>
          <p:cNvPr id="185" name="Google Shape;185;p2"/>
          <p:cNvSpPr txBox="1"/>
          <p:nvPr/>
        </p:nvSpPr>
        <p:spPr>
          <a:xfrm>
            <a:off x="1053179" y="4022730"/>
            <a:ext cx="82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inzel Decorative"/>
              <a:buNone/>
            </a:pPr>
            <a:r>
              <a:rPr lang="en-US" sz="29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"/>
          <p:cNvSpPr txBox="1"/>
          <p:nvPr/>
        </p:nvSpPr>
        <p:spPr>
          <a:xfrm>
            <a:off x="3367513" y="1747450"/>
            <a:ext cx="4218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Cinzel Decorative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About the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>
            <a:off x="1405188" y="951810"/>
            <a:ext cx="2294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0" i="0" u="none" strike="noStrike" cap="none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1</a:t>
            </a:r>
            <a:endParaRPr/>
          </a:p>
        </p:txBody>
      </p:sp>
      <p:sp>
        <p:nvSpPr>
          <p:cNvPr id="192" name="Google Shape;192;p3"/>
          <p:cNvSpPr txBox="1"/>
          <p:nvPr/>
        </p:nvSpPr>
        <p:spPr>
          <a:xfrm>
            <a:off x="1557588" y="2571750"/>
            <a:ext cx="356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company</a:t>
            </a:r>
            <a:endParaRPr sz="1400" b="0" i="0" u="none" strike="noStrike" cap="none">
              <a:solidFill>
                <a:srgbClr val="000000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193" name="Google Shape;193;p3"/>
          <p:cNvCxnSpPr/>
          <p:nvPr/>
        </p:nvCxnSpPr>
        <p:spPr>
          <a:xfrm>
            <a:off x="5123688" y="3028950"/>
            <a:ext cx="20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4" name="Google Shape;194;p3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"/>
          <p:cNvSpPr txBox="1">
            <a:spLocks noGrp="1"/>
          </p:cNvSpPr>
          <p:nvPr>
            <p:ph type="title"/>
          </p:nvPr>
        </p:nvSpPr>
        <p:spPr>
          <a:xfrm>
            <a:off x="720000" y="972975"/>
            <a:ext cx="3470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About</a:t>
            </a:r>
            <a:endParaRPr/>
          </a:p>
        </p:txBody>
      </p:sp>
      <p:sp>
        <p:nvSpPr>
          <p:cNvPr id="200" name="Google Shape;200;p4"/>
          <p:cNvSpPr txBox="1">
            <a:spLocks noGrp="1"/>
          </p:cNvSpPr>
          <p:nvPr>
            <p:ph type="subTitle" idx="1"/>
          </p:nvPr>
        </p:nvSpPr>
        <p:spPr>
          <a:xfrm>
            <a:off x="720000" y="2571700"/>
            <a:ext cx="3398700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 are an esteemed hotel group specializing in city hotels and resorts in Portugal.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</a:pPr>
            <a:r>
              <a:rPr lang="en-US"/>
              <a:t>At our hotel group, we are dedicated to providing exceptional guest experiences that embody the essence of Portuguese hospitality. </a:t>
            </a:r>
            <a:endParaRPr/>
          </a:p>
        </p:txBody>
      </p:sp>
      <p:cxnSp>
        <p:nvCxnSpPr>
          <p:cNvPr id="201" name="Google Shape;201;p4"/>
          <p:cNvCxnSpPr/>
          <p:nvPr/>
        </p:nvCxnSpPr>
        <p:spPr>
          <a:xfrm>
            <a:off x="-308600" y="2155100"/>
            <a:ext cx="25443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2" name="Google Shape;202;p4"/>
          <p:cNvPicPr preferRelativeResize="0"/>
          <p:nvPr/>
        </p:nvPicPr>
        <p:blipFill rotWithShape="1">
          <a:blip r:embed="rId3">
            <a:alphaModFix/>
          </a:blip>
          <a:srcRect l="21685" r="16247"/>
          <a:stretch/>
        </p:blipFill>
        <p:spPr>
          <a:xfrm>
            <a:off x="4689612" y="387600"/>
            <a:ext cx="4066799" cy="436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"/>
          <p:cNvSpPr txBox="1"/>
          <p:nvPr/>
        </p:nvSpPr>
        <p:spPr>
          <a:xfrm>
            <a:off x="2346950" y="1658750"/>
            <a:ext cx="1843200" cy="7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existing situation (2015-17)</a:t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1827003" y="1773609"/>
            <a:ext cx="1913469" cy="1913469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047372" y="4123818"/>
            <a:ext cx="1777800" cy="548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3672221" y="4119285"/>
            <a:ext cx="1777800" cy="548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229403" y="4119272"/>
            <a:ext cx="1777800" cy="548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1159572" y="4078462"/>
            <a:ext cx="1553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€ 102</a:t>
            </a:r>
            <a:endParaRPr sz="18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215" name="Google Shape;215;p5"/>
          <p:cNvSpPr txBox="1"/>
          <p:nvPr/>
        </p:nvSpPr>
        <p:spPr>
          <a:xfrm>
            <a:off x="6326603" y="4073929"/>
            <a:ext cx="1583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100 days</a:t>
            </a:r>
            <a:endParaRPr sz="18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3816221" y="4073929"/>
            <a:ext cx="1489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3 Days</a:t>
            </a:r>
            <a:endParaRPr sz="18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217" name="Google Shape;217;p5"/>
          <p:cNvSpPr txBox="1"/>
          <p:nvPr/>
        </p:nvSpPr>
        <p:spPr>
          <a:xfrm flipH="1">
            <a:off x="1159572" y="4344398"/>
            <a:ext cx="1553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Average per night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18" name="Google Shape;218;p5"/>
          <p:cNvSpPr txBox="1"/>
          <p:nvPr/>
        </p:nvSpPr>
        <p:spPr>
          <a:xfrm flipH="1">
            <a:off x="3769421" y="4339865"/>
            <a:ext cx="1583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Average stay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19" name="Google Shape;219;p5"/>
          <p:cNvSpPr txBox="1"/>
          <p:nvPr/>
        </p:nvSpPr>
        <p:spPr>
          <a:xfrm flipH="1">
            <a:off x="6341603" y="4339852"/>
            <a:ext cx="1553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Average lead time*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1928479" y="1883551"/>
            <a:ext cx="1700707" cy="1700707"/>
          </a:xfrm>
          <a:prstGeom prst="pie">
            <a:avLst>
              <a:gd name="adj1" fmla="val 19665978"/>
              <a:gd name="adj2" fmla="val 1620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2517314" y="1998090"/>
            <a:ext cx="1158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37%</a:t>
            </a:r>
            <a:endParaRPr/>
          </a:p>
        </p:txBody>
      </p:sp>
      <p:graphicFrame>
        <p:nvGraphicFramePr>
          <p:cNvPr id="222" name="Google Shape;222;p5"/>
          <p:cNvGraphicFramePr/>
          <p:nvPr/>
        </p:nvGraphicFramePr>
        <p:xfrm>
          <a:off x="4360522" y="1629868"/>
          <a:ext cx="3592495" cy="2214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3" name="Google Shape;223;p5"/>
          <p:cNvSpPr txBox="1"/>
          <p:nvPr/>
        </p:nvSpPr>
        <p:spPr>
          <a:xfrm>
            <a:off x="1946467" y="1191531"/>
            <a:ext cx="1695428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Cancellation rate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5131036" y="1190449"/>
            <a:ext cx="2051468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Cancellation  by Country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 flipH="1">
            <a:off x="84148" y="4897279"/>
            <a:ext cx="65175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* Lead time refers to the number of days between booking date and arrival date  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 txBox="1">
            <a:spLocks noGrp="1"/>
          </p:cNvSpPr>
          <p:nvPr>
            <p:ph type="title" idx="8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The problem: Booking Cancellation &amp; the impact</a:t>
            </a:r>
            <a:endParaRPr/>
          </a:p>
        </p:txBody>
      </p:sp>
      <p:sp>
        <p:nvSpPr>
          <p:cNvPr id="232" name="Google Shape;232;p6"/>
          <p:cNvSpPr txBox="1">
            <a:spLocks noGrp="1"/>
          </p:cNvSpPr>
          <p:nvPr>
            <p:ph type="title" idx="4"/>
          </p:nvPr>
        </p:nvSpPr>
        <p:spPr>
          <a:xfrm>
            <a:off x="851802" y="2939950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sz="1400"/>
              <a:t>Vacancy rate</a:t>
            </a:r>
            <a:endParaRPr sz="1400"/>
          </a:p>
        </p:txBody>
      </p:sp>
      <p:sp>
        <p:nvSpPr>
          <p:cNvPr id="233" name="Google Shape;233;p6"/>
          <p:cNvSpPr txBox="1">
            <a:spLocks noGrp="1"/>
          </p:cNvSpPr>
          <p:nvPr>
            <p:ph type="subTitle" idx="5"/>
          </p:nvPr>
        </p:nvSpPr>
        <p:spPr>
          <a:xfrm>
            <a:off x="851800" y="3473350"/>
            <a:ext cx="1645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Affect the hotel’s planning</a:t>
            </a:r>
            <a:endParaRPr/>
          </a:p>
        </p:txBody>
      </p:sp>
      <p:sp>
        <p:nvSpPr>
          <p:cNvPr id="234" name="Google Shape;234;p6"/>
          <p:cNvSpPr txBox="1">
            <a:spLocks noGrp="1"/>
          </p:cNvSpPr>
          <p:nvPr>
            <p:ph type="title" idx="6"/>
          </p:nvPr>
        </p:nvSpPr>
        <p:spPr>
          <a:xfrm>
            <a:off x="3005930" y="2939950"/>
            <a:ext cx="1645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 sz="1400"/>
              <a:t>Cancellation</a:t>
            </a:r>
            <a:endParaRPr sz="1400"/>
          </a:p>
        </p:txBody>
      </p:sp>
      <p:sp>
        <p:nvSpPr>
          <p:cNvPr id="235" name="Google Shape;235;p6"/>
          <p:cNvSpPr txBox="1">
            <a:spLocks noGrp="1"/>
          </p:cNvSpPr>
          <p:nvPr>
            <p:ph type="subTitle" idx="7"/>
          </p:nvPr>
        </p:nvSpPr>
        <p:spPr>
          <a:xfrm>
            <a:off x="3005923" y="3473350"/>
            <a:ext cx="1645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High cancellation rate harm hotel’s revenue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1392608" y="2071163"/>
            <a:ext cx="564175" cy="639729"/>
          </a:xfrm>
          <a:custGeom>
            <a:avLst/>
            <a:gdLst/>
            <a:ahLst/>
            <a:cxnLst/>
            <a:rect l="l" t="t" r="r" b="b"/>
            <a:pathLst>
              <a:path w="13194" h="14893" extrusionOk="0">
                <a:moveTo>
                  <a:pt x="1544" y="448"/>
                </a:moveTo>
                <a:cubicBezTo>
                  <a:pt x="1830" y="448"/>
                  <a:pt x="2065" y="681"/>
                  <a:pt x="2065" y="969"/>
                </a:cubicBezTo>
                <a:cubicBezTo>
                  <a:pt x="2065" y="1256"/>
                  <a:pt x="1828" y="1489"/>
                  <a:pt x="1544" y="1489"/>
                </a:cubicBezTo>
                <a:cubicBezTo>
                  <a:pt x="1261" y="1489"/>
                  <a:pt x="1026" y="1256"/>
                  <a:pt x="1026" y="969"/>
                </a:cubicBezTo>
                <a:cubicBezTo>
                  <a:pt x="1026" y="681"/>
                  <a:pt x="1257" y="448"/>
                  <a:pt x="1544" y="448"/>
                </a:cubicBezTo>
                <a:close/>
                <a:moveTo>
                  <a:pt x="11654" y="448"/>
                </a:moveTo>
                <a:cubicBezTo>
                  <a:pt x="11938" y="448"/>
                  <a:pt x="12172" y="681"/>
                  <a:pt x="12172" y="969"/>
                </a:cubicBezTo>
                <a:cubicBezTo>
                  <a:pt x="12172" y="1256"/>
                  <a:pt x="11938" y="1489"/>
                  <a:pt x="11654" y="1489"/>
                </a:cubicBezTo>
                <a:cubicBezTo>
                  <a:pt x="11368" y="1489"/>
                  <a:pt x="11134" y="1256"/>
                  <a:pt x="11134" y="969"/>
                </a:cubicBezTo>
                <a:cubicBezTo>
                  <a:pt x="11134" y="681"/>
                  <a:pt x="11368" y="448"/>
                  <a:pt x="11654" y="448"/>
                </a:cubicBezTo>
                <a:close/>
                <a:moveTo>
                  <a:pt x="1297" y="1902"/>
                </a:moveTo>
                <a:cubicBezTo>
                  <a:pt x="1374" y="1924"/>
                  <a:pt x="1459" y="1936"/>
                  <a:pt x="1544" y="1936"/>
                </a:cubicBezTo>
                <a:cubicBezTo>
                  <a:pt x="1630" y="1936"/>
                  <a:pt x="1715" y="1926"/>
                  <a:pt x="1796" y="1904"/>
                </a:cubicBezTo>
                <a:lnTo>
                  <a:pt x="1796" y="6049"/>
                </a:lnTo>
                <a:cubicBezTo>
                  <a:pt x="1617" y="6072"/>
                  <a:pt x="1448" y="6130"/>
                  <a:pt x="1297" y="6211"/>
                </a:cubicBezTo>
                <a:lnTo>
                  <a:pt x="1297" y="1902"/>
                </a:lnTo>
                <a:close/>
                <a:moveTo>
                  <a:pt x="11906" y="1902"/>
                </a:moveTo>
                <a:lnTo>
                  <a:pt x="11906" y="6211"/>
                </a:lnTo>
                <a:cubicBezTo>
                  <a:pt x="11752" y="6128"/>
                  <a:pt x="11584" y="6072"/>
                  <a:pt x="11405" y="6049"/>
                </a:cubicBezTo>
                <a:lnTo>
                  <a:pt x="11405" y="1902"/>
                </a:lnTo>
                <a:cubicBezTo>
                  <a:pt x="11486" y="1924"/>
                  <a:pt x="11569" y="1934"/>
                  <a:pt x="11656" y="1934"/>
                </a:cubicBezTo>
                <a:cubicBezTo>
                  <a:pt x="11741" y="1934"/>
                  <a:pt x="11827" y="1924"/>
                  <a:pt x="11906" y="1902"/>
                </a:cubicBezTo>
                <a:close/>
                <a:moveTo>
                  <a:pt x="5141" y="4326"/>
                </a:moveTo>
                <a:cubicBezTo>
                  <a:pt x="5002" y="4518"/>
                  <a:pt x="4932" y="4744"/>
                  <a:pt x="4932" y="4966"/>
                </a:cubicBezTo>
                <a:lnTo>
                  <a:pt x="4932" y="6305"/>
                </a:lnTo>
                <a:cubicBezTo>
                  <a:pt x="4932" y="6531"/>
                  <a:pt x="5000" y="6755"/>
                  <a:pt x="5141" y="6944"/>
                </a:cubicBezTo>
                <a:lnTo>
                  <a:pt x="3879" y="6944"/>
                </a:lnTo>
                <a:cubicBezTo>
                  <a:pt x="3578" y="6944"/>
                  <a:pt x="3239" y="6727"/>
                  <a:pt x="3239" y="6256"/>
                </a:cubicBezTo>
                <a:lnTo>
                  <a:pt x="3239" y="4966"/>
                </a:lnTo>
                <a:cubicBezTo>
                  <a:pt x="3239" y="4614"/>
                  <a:pt x="3527" y="4326"/>
                  <a:pt x="3879" y="4326"/>
                </a:cubicBezTo>
                <a:close/>
                <a:moveTo>
                  <a:pt x="6601" y="621"/>
                </a:moveTo>
                <a:cubicBezTo>
                  <a:pt x="6842" y="621"/>
                  <a:pt x="7082" y="713"/>
                  <a:pt x="7264" y="896"/>
                </a:cubicBezTo>
                <a:cubicBezTo>
                  <a:pt x="7934" y="1565"/>
                  <a:pt x="8823" y="1934"/>
                  <a:pt x="9769" y="1934"/>
                </a:cubicBezTo>
                <a:lnTo>
                  <a:pt x="10957" y="1934"/>
                </a:lnTo>
                <a:lnTo>
                  <a:pt x="10957" y="6032"/>
                </a:lnTo>
                <a:lnTo>
                  <a:pt x="10407" y="6032"/>
                </a:lnTo>
                <a:lnTo>
                  <a:pt x="10407" y="4966"/>
                </a:lnTo>
                <a:cubicBezTo>
                  <a:pt x="10407" y="4367"/>
                  <a:pt x="9919" y="3879"/>
                  <a:pt x="9320" y="3879"/>
                </a:cubicBezTo>
                <a:lnTo>
                  <a:pt x="8192" y="3879"/>
                </a:lnTo>
                <a:cubicBezTo>
                  <a:pt x="8068" y="3879"/>
                  <a:pt x="7968" y="3981"/>
                  <a:pt x="7968" y="4102"/>
                </a:cubicBezTo>
                <a:cubicBezTo>
                  <a:pt x="7968" y="4226"/>
                  <a:pt x="8068" y="4326"/>
                  <a:pt x="8192" y="4326"/>
                </a:cubicBezTo>
                <a:lnTo>
                  <a:pt x="9320" y="4326"/>
                </a:lnTo>
                <a:cubicBezTo>
                  <a:pt x="9671" y="4326"/>
                  <a:pt x="9959" y="4614"/>
                  <a:pt x="9959" y="4966"/>
                </a:cubicBezTo>
                <a:lnTo>
                  <a:pt x="9959" y="6256"/>
                </a:lnTo>
                <a:cubicBezTo>
                  <a:pt x="9959" y="6706"/>
                  <a:pt x="9639" y="6944"/>
                  <a:pt x="9320" y="6944"/>
                </a:cubicBezTo>
                <a:lnTo>
                  <a:pt x="6019" y="6944"/>
                </a:lnTo>
                <a:cubicBezTo>
                  <a:pt x="5668" y="6944"/>
                  <a:pt x="5380" y="6656"/>
                  <a:pt x="5380" y="6305"/>
                </a:cubicBezTo>
                <a:lnTo>
                  <a:pt x="5380" y="4966"/>
                </a:lnTo>
                <a:cubicBezTo>
                  <a:pt x="5380" y="4614"/>
                  <a:pt x="5668" y="4326"/>
                  <a:pt x="6019" y="4326"/>
                </a:cubicBezTo>
                <a:lnTo>
                  <a:pt x="7147" y="4326"/>
                </a:lnTo>
                <a:cubicBezTo>
                  <a:pt x="7269" y="4326"/>
                  <a:pt x="7371" y="4226"/>
                  <a:pt x="7371" y="4102"/>
                </a:cubicBezTo>
                <a:cubicBezTo>
                  <a:pt x="7371" y="3981"/>
                  <a:pt x="7269" y="3879"/>
                  <a:pt x="7147" y="3879"/>
                </a:cubicBezTo>
                <a:lnTo>
                  <a:pt x="3879" y="3879"/>
                </a:lnTo>
                <a:cubicBezTo>
                  <a:pt x="3280" y="3879"/>
                  <a:pt x="2792" y="4367"/>
                  <a:pt x="2792" y="4966"/>
                </a:cubicBezTo>
                <a:lnTo>
                  <a:pt x="2792" y="6032"/>
                </a:lnTo>
                <a:lnTo>
                  <a:pt x="2242" y="6032"/>
                </a:lnTo>
                <a:lnTo>
                  <a:pt x="2242" y="1936"/>
                </a:lnTo>
                <a:lnTo>
                  <a:pt x="3429" y="1936"/>
                </a:lnTo>
                <a:cubicBezTo>
                  <a:pt x="4376" y="1936"/>
                  <a:pt x="5265" y="1565"/>
                  <a:pt x="5934" y="896"/>
                </a:cubicBezTo>
                <a:cubicBezTo>
                  <a:pt x="6118" y="713"/>
                  <a:pt x="6360" y="621"/>
                  <a:pt x="6601" y="621"/>
                </a:cubicBezTo>
                <a:close/>
                <a:moveTo>
                  <a:pt x="11191" y="6480"/>
                </a:moveTo>
                <a:cubicBezTo>
                  <a:pt x="11754" y="6480"/>
                  <a:pt x="12247" y="6938"/>
                  <a:pt x="12247" y="7535"/>
                </a:cubicBezTo>
                <a:lnTo>
                  <a:pt x="12247" y="7989"/>
                </a:lnTo>
                <a:lnTo>
                  <a:pt x="952" y="7989"/>
                </a:lnTo>
                <a:lnTo>
                  <a:pt x="952" y="7535"/>
                </a:lnTo>
                <a:cubicBezTo>
                  <a:pt x="952" y="6966"/>
                  <a:pt x="1414" y="6480"/>
                  <a:pt x="2018" y="6480"/>
                </a:cubicBezTo>
                <a:lnTo>
                  <a:pt x="2807" y="6480"/>
                </a:lnTo>
                <a:cubicBezTo>
                  <a:pt x="2892" y="6998"/>
                  <a:pt x="3342" y="7392"/>
                  <a:pt x="3879" y="7392"/>
                </a:cubicBezTo>
                <a:lnTo>
                  <a:pt x="9315" y="7392"/>
                </a:lnTo>
                <a:cubicBezTo>
                  <a:pt x="9853" y="7392"/>
                  <a:pt x="10304" y="7000"/>
                  <a:pt x="10390" y="6480"/>
                </a:cubicBezTo>
                <a:close/>
                <a:moveTo>
                  <a:pt x="12654" y="11319"/>
                </a:moveTo>
                <a:cubicBezTo>
                  <a:pt x="12707" y="11319"/>
                  <a:pt x="12752" y="11362"/>
                  <a:pt x="12752" y="11415"/>
                </a:cubicBezTo>
                <a:lnTo>
                  <a:pt x="12752" y="12031"/>
                </a:lnTo>
                <a:cubicBezTo>
                  <a:pt x="12752" y="12084"/>
                  <a:pt x="12707" y="12127"/>
                  <a:pt x="12654" y="12127"/>
                </a:cubicBezTo>
                <a:lnTo>
                  <a:pt x="545" y="12127"/>
                </a:lnTo>
                <a:cubicBezTo>
                  <a:pt x="491" y="12127"/>
                  <a:pt x="449" y="12084"/>
                  <a:pt x="449" y="12031"/>
                </a:cubicBezTo>
                <a:lnTo>
                  <a:pt x="449" y="11415"/>
                </a:lnTo>
                <a:lnTo>
                  <a:pt x="451" y="11415"/>
                </a:lnTo>
                <a:cubicBezTo>
                  <a:pt x="451" y="11362"/>
                  <a:pt x="493" y="11319"/>
                  <a:pt x="547" y="11319"/>
                </a:cubicBezTo>
                <a:close/>
                <a:moveTo>
                  <a:pt x="10744" y="12577"/>
                </a:moveTo>
                <a:lnTo>
                  <a:pt x="10744" y="13095"/>
                </a:lnTo>
                <a:lnTo>
                  <a:pt x="2457" y="13095"/>
                </a:lnTo>
                <a:lnTo>
                  <a:pt x="2457" y="12577"/>
                </a:lnTo>
                <a:close/>
                <a:moveTo>
                  <a:pt x="2011" y="12577"/>
                </a:moveTo>
                <a:cubicBezTo>
                  <a:pt x="2009" y="12703"/>
                  <a:pt x="2009" y="13783"/>
                  <a:pt x="2009" y="13920"/>
                </a:cubicBezTo>
                <a:cubicBezTo>
                  <a:pt x="2009" y="14210"/>
                  <a:pt x="1773" y="14449"/>
                  <a:pt x="1480" y="14449"/>
                </a:cubicBezTo>
                <a:cubicBezTo>
                  <a:pt x="1191" y="14449"/>
                  <a:pt x="954" y="14210"/>
                  <a:pt x="954" y="13920"/>
                </a:cubicBezTo>
                <a:lnTo>
                  <a:pt x="954" y="12577"/>
                </a:lnTo>
                <a:close/>
                <a:moveTo>
                  <a:pt x="12249" y="12577"/>
                </a:moveTo>
                <a:lnTo>
                  <a:pt x="12249" y="13920"/>
                </a:lnTo>
                <a:lnTo>
                  <a:pt x="12247" y="13920"/>
                </a:lnTo>
                <a:cubicBezTo>
                  <a:pt x="12247" y="14210"/>
                  <a:pt x="12010" y="14449"/>
                  <a:pt x="11720" y="14449"/>
                </a:cubicBezTo>
                <a:cubicBezTo>
                  <a:pt x="11428" y="14449"/>
                  <a:pt x="11191" y="14210"/>
                  <a:pt x="11191" y="13920"/>
                </a:cubicBezTo>
                <a:lnTo>
                  <a:pt x="11191" y="12577"/>
                </a:lnTo>
                <a:close/>
                <a:moveTo>
                  <a:pt x="1544" y="1"/>
                </a:moveTo>
                <a:cubicBezTo>
                  <a:pt x="1011" y="1"/>
                  <a:pt x="577" y="436"/>
                  <a:pt x="577" y="969"/>
                </a:cubicBezTo>
                <a:cubicBezTo>
                  <a:pt x="577" y="1227"/>
                  <a:pt x="681" y="1463"/>
                  <a:pt x="847" y="1638"/>
                </a:cubicBezTo>
                <a:lnTo>
                  <a:pt x="847" y="6578"/>
                </a:lnTo>
                <a:cubicBezTo>
                  <a:pt x="630" y="6840"/>
                  <a:pt x="502" y="7172"/>
                  <a:pt x="502" y="7535"/>
                </a:cubicBezTo>
                <a:lnTo>
                  <a:pt x="502" y="10873"/>
                </a:lnTo>
                <a:cubicBezTo>
                  <a:pt x="223" y="10895"/>
                  <a:pt x="1" y="11129"/>
                  <a:pt x="1" y="11415"/>
                </a:cubicBezTo>
                <a:lnTo>
                  <a:pt x="1" y="12031"/>
                </a:lnTo>
                <a:cubicBezTo>
                  <a:pt x="3" y="12319"/>
                  <a:pt x="223" y="12553"/>
                  <a:pt x="504" y="12575"/>
                </a:cubicBezTo>
                <a:lnTo>
                  <a:pt x="504" y="13918"/>
                </a:lnTo>
                <a:cubicBezTo>
                  <a:pt x="504" y="14455"/>
                  <a:pt x="941" y="14892"/>
                  <a:pt x="1478" y="14892"/>
                </a:cubicBezTo>
                <a:cubicBezTo>
                  <a:pt x="2016" y="14892"/>
                  <a:pt x="2455" y="14455"/>
                  <a:pt x="2455" y="13918"/>
                </a:cubicBezTo>
                <a:lnTo>
                  <a:pt x="2455" y="13543"/>
                </a:lnTo>
                <a:lnTo>
                  <a:pt x="10742" y="13543"/>
                </a:lnTo>
                <a:lnTo>
                  <a:pt x="10742" y="13918"/>
                </a:lnTo>
                <a:cubicBezTo>
                  <a:pt x="10742" y="14455"/>
                  <a:pt x="11179" y="14892"/>
                  <a:pt x="11716" y="14892"/>
                </a:cubicBezTo>
                <a:cubicBezTo>
                  <a:pt x="12255" y="14892"/>
                  <a:pt x="12692" y="14455"/>
                  <a:pt x="12692" y="13918"/>
                </a:cubicBezTo>
                <a:lnTo>
                  <a:pt x="12692" y="12575"/>
                </a:lnTo>
                <a:cubicBezTo>
                  <a:pt x="12972" y="12553"/>
                  <a:pt x="13193" y="12319"/>
                  <a:pt x="13193" y="12033"/>
                </a:cubicBezTo>
                <a:lnTo>
                  <a:pt x="13193" y="11415"/>
                </a:lnTo>
                <a:cubicBezTo>
                  <a:pt x="13193" y="11129"/>
                  <a:pt x="12972" y="10895"/>
                  <a:pt x="12692" y="10873"/>
                </a:cubicBezTo>
                <a:lnTo>
                  <a:pt x="12692" y="10213"/>
                </a:lnTo>
                <a:cubicBezTo>
                  <a:pt x="12692" y="10091"/>
                  <a:pt x="12592" y="9989"/>
                  <a:pt x="12468" y="9989"/>
                </a:cubicBezTo>
                <a:cubicBezTo>
                  <a:pt x="12347" y="9989"/>
                  <a:pt x="12245" y="10091"/>
                  <a:pt x="12245" y="10213"/>
                </a:cubicBezTo>
                <a:lnTo>
                  <a:pt x="12245" y="10871"/>
                </a:lnTo>
                <a:lnTo>
                  <a:pt x="947" y="10871"/>
                </a:lnTo>
                <a:lnTo>
                  <a:pt x="947" y="8434"/>
                </a:lnTo>
                <a:lnTo>
                  <a:pt x="12245" y="8434"/>
                </a:lnTo>
                <a:lnTo>
                  <a:pt x="12245" y="9168"/>
                </a:lnTo>
                <a:cubicBezTo>
                  <a:pt x="12245" y="9292"/>
                  <a:pt x="12347" y="9392"/>
                  <a:pt x="12468" y="9392"/>
                </a:cubicBezTo>
                <a:cubicBezTo>
                  <a:pt x="12592" y="9392"/>
                  <a:pt x="12692" y="9292"/>
                  <a:pt x="12692" y="9168"/>
                </a:cubicBezTo>
                <a:lnTo>
                  <a:pt x="12692" y="7535"/>
                </a:lnTo>
                <a:cubicBezTo>
                  <a:pt x="12692" y="7172"/>
                  <a:pt x="12562" y="6840"/>
                  <a:pt x="12349" y="6578"/>
                </a:cubicBezTo>
                <a:lnTo>
                  <a:pt x="12349" y="1638"/>
                </a:lnTo>
                <a:cubicBezTo>
                  <a:pt x="12517" y="1463"/>
                  <a:pt x="12618" y="1227"/>
                  <a:pt x="12618" y="969"/>
                </a:cubicBezTo>
                <a:cubicBezTo>
                  <a:pt x="12618" y="436"/>
                  <a:pt x="12183" y="1"/>
                  <a:pt x="11650" y="1"/>
                </a:cubicBezTo>
                <a:cubicBezTo>
                  <a:pt x="11117" y="1"/>
                  <a:pt x="10684" y="436"/>
                  <a:pt x="10684" y="969"/>
                </a:cubicBezTo>
                <a:cubicBezTo>
                  <a:pt x="10684" y="1160"/>
                  <a:pt x="10739" y="1335"/>
                  <a:pt x="10835" y="1489"/>
                </a:cubicBezTo>
                <a:lnTo>
                  <a:pt x="9767" y="1489"/>
                </a:lnTo>
                <a:cubicBezTo>
                  <a:pt x="8940" y="1489"/>
                  <a:pt x="8162" y="1165"/>
                  <a:pt x="7578" y="583"/>
                </a:cubicBezTo>
                <a:cubicBezTo>
                  <a:pt x="7318" y="320"/>
                  <a:pt x="6968" y="173"/>
                  <a:pt x="6597" y="173"/>
                </a:cubicBezTo>
                <a:cubicBezTo>
                  <a:pt x="6226" y="173"/>
                  <a:pt x="5879" y="318"/>
                  <a:pt x="5616" y="583"/>
                </a:cubicBezTo>
                <a:cubicBezTo>
                  <a:pt x="5032" y="1165"/>
                  <a:pt x="4254" y="1489"/>
                  <a:pt x="3429" y="1489"/>
                </a:cubicBezTo>
                <a:lnTo>
                  <a:pt x="2361" y="1489"/>
                </a:lnTo>
                <a:cubicBezTo>
                  <a:pt x="2457" y="1339"/>
                  <a:pt x="2512" y="1160"/>
                  <a:pt x="2512" y="969"/>
                </a:cubicBezTo>
                <a:cubicBezTo>
                  <a:pt x="2512" y="436"/>
                  <a:pt x="2077" y="1"/>
                  <a:pt x="15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6"/>
          <p:cNvCxnSpPr/>
          <p:nvPr/>
        </p:nvCxnSpPr>
        <p:spPr>
          <a:xfrm>
            <a:off x="1360130" y="3473350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8" name="Google Shape;238;p6"/>
          <p:cNvCxnSpPr/>
          <p:nvPr/>
        </p:nvCxnSpPr>
        <p:spPr>
          <a:xfrm>
            <a:off x="3514256" y="3473350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9" name="Google Shape;239;p6"/>
          <p:cNvGrpSpPr/>
          <p:nvPr/>
        </p:nvGrpSpPr>
        <p:grpSpPr>
          <a:xfrm>
            <a:off x="3535001" y="2135419"/>
            <a:ext cx="608355" cy="639939"/>
            <a:chOff x="1565284" y="2313840"/>
            <a:chExt cx="451771" cy="474486"/>
          </a:xfrm>
        </p:grpSpPr>
        <p:sp>
          <p:nvSpPr>
            <p:cNvPr id="240" name="Google Shape;240;p6"/>
            <p:cNvSpPr/>
            <p:nvPr/>
          </p:nvSpPr>
          <p:spPr>
            <a:xfrm>
              <a:off x="1763629" y="2440633"/>
              <a:ext cx="94139" cy="89233"/>
            </a:xfrm>
            <a:custGeom>
              <a:avLst/>
              <a:gdLst/>
              <a:ahLst/>
              <a:cxnLst/>
              <a:rect l="l" t="t" r="r" b="b"/>
              <a:pathLst>
                <a:path w="2955" h="2801" extrusionOk="0">
                  <a:moveTo>
                    <a:pt x="554" y="785"/>
                  </a:moveTo>
                  <a:lnTo>
                    <a:pt x="1139" y="1369"/>
                  </a:lnTo>
                  <a:cubicBezTo>
                    <a:pt x="1076" y="1395"/>
                    <a:pt x="1011" y="1408"/>
                    <a:pt x="946" y="1408"/>
                  </a:cubicBezTo>
                  <a:cubicBezTo>
                    <a:pt x="832" y="1408"/>
                    <a:pt x="721" y="1367"/>
                    <a:pt x="640" y="1284"/>
                  </a:cubicBezTo>
                  <a:cubicBezTo>
                    <a:pt x="512" y="1156"/>
                    <a:pt x="484" y="958"/>
                    <a:pt x="554" y="785"/>
                  </a:cubicBezTo>
                  <a:close/>
                  <a:moveTo>
                    <a:pt x="2011" y="1398"/>
                  </a:moveTo>
                  <a:cubicBezTo>
                    <a:pt x="2126" y="1398"/>
                    <a:pt x="2237" y="1439"/>
                    <a:pt x="2320" y="1521"/>
                  </a:cubicBezTo>
                  <a:cubicBezTo>
                    <a:pt x="2448" y="1649"/>
                    <a:pt x="2473" y="1845"/>
                    <a:pt x="2405" y="2020"/>
                  </a:cubicBezTo>
                  <a:lnTo>
                    <a:pt x="1821" y="1435"/>
                  </a:lnTo>
                  <a:cubicBezTo>
                    <a:pt x="1883" y="1410"/>
                    <a:pt x="1947" y="1398"/>
                    <a:pt x="2011" y="1398"/>
                  </a:cubicBezTo>
                  <a:close/>
                  <a:moveTo>
                    <a:pt x="1049" y="0"/>
                  </a:moveTo>
                  <a:cubicBezTo>
                    <a:pt x="873" y="0"/>
                    <a:pt x="695" y="50"/>
                    <a:pt x="537" y="150"/>
                  </a:cubicBezTo>
                  <a:lnTo>
                    <a:pt x="516" y="129"/>
                  </a:lnTo>
                  <a:cubicBezTo>
                    <a:pt x="473" y="86"/>
                    <a:pt x="417" y="65"/>
                    <a:pt x="361" y="65"/>
                  </a:cubicBezTo>
                  <a:cubicBezTo>
                    <a:pt x="306" y="65"/>
                    <a:pt x="250" y="86"/>
                    <a:pt x="207" y="129"/>
                  </a:cubicBezTo>
                  <a:cubicBezTo>
                    <a:pt x="122" y="214"/>
                    <a:pt x="122" y="352"/>
                    <a:pt x="207" y="438"/>
                  </a:cubicBezTo>
                  <a:lnTo>
                    <a:pt x="228" y="459"/>
                  </a:lnTo>
                  <a:cubicBezTo>
                    <a:pt x="0" y="819"/>
                    <a:pt x="32" y="1290"/>
                    <a:pt x="331" y="1589"/>
                  </a:cubicBezTo>
                  <a:cubicBezTo>
                    <a:pt x="499" y="1757"/>
                    <a:pt x="721" y="1841"/>
                    <a:pt x="948" y="1841"/>
                  </a:cubicBezTo>
                  <a:cubicBezTo>
                    <a:pt x="1124" y="1841"/>
                    <a:pt x="1302" y="1791"/>
                    <a:pt x="1461" y="1691"/>
                  </a:cubicBezTo>
                  <a:lnTo>
                    <a:pt x="2094" y="2324"/>
                  </a:lnTo>
                  <a:cubicBezTo>
                    <a:pt x="2032" y="2350"/>
                    <a:pt x="1967" y="2362"/>
                    <a:pt x="1904" y="2362"/>
                  </a:cubicBezTo>
                  <a:cubicBezTo>
                    <a:pt x="1790" y="2362"/>
                    <a:pt x="1679" y="2321"/>
                    <a:pt x="1597" y="2239"/>
                  </a:cubicBezTo>
                  <a:cubicBezTo>
                    <a:pt x="1554" y="2197"/>
                    <a:pt x="1498" y="2175"/>
                    <a:pt x="1442" y="2175"/>
                  </a:cubicBezTo>
                  <a:cubicBezTo>
                    <a:pt x="1386" y="2175"/>
                    <a:pt x="1330" y="2197"/>
                    <a:pt x="1288" y="2239"/>
                  </a:cubicBezTo>
                  <a:cubicBezTo>
                    <a:pt x="1203" y="2324"/>
                    <a:pt x="1203" y="2463"/>
                    <a:pt x="1288" y="2548"/>
                  </a:cubicBezTo>
                  <a:cubicBezTo>
                    <a:pt x="1456" y="2717"/>
                    <a:pt x="1679" y="2800"/>
                    <a:pt x="1906" y="2800"/>
                  </a:cubicBezTo>
                  <a:cubicBezTo>
                    <a:pt x="2081" y="2800"/>
                    <a:pt x="2260" y="2750"/>
                    <a:pt x="2418" y="2651"/>
                  </a:cubicBezTo>
                  <a:lnTo>
                    <a:pt x="2439" y="2672"/>
                  </a:lnTo>
                  <a:cubicBezTo>
                    <a:pt x="2482" y="2715"/>
                    <a:pt x="2537" y="2736"/>
                    <a:pt x="2593" y="2736"/>
                  </a:cubicBezTo>
                  <a:cubicBezTo>
                    <a:pt x="2650" y="2736"/>
                    <a:pt x="2706" y="2715"/>
                    <a:pt x="2748" y="2672"/>
                  </a:cubicBezTo>
                  <a:cubicBezTo>
                    <a:pt x="2833" y="2587"/>
                    <a:pt x="2833" y="2448"/>
                    <a:pt x="2748" y="2363"/>
                  </a:cubicBezTo>
                  <a:lnTo>
                    <a:pt x="2727" y="2342"/>
                  </a:lnTo>
                  <a:cubicBezTo>
                    <a:pt x="2955" y="1981"/>
                    <a:pt x="2923" y="1510"/>
                    <a:pt x="2625" y="1212"/>
                  </a:cubicBezTo>
                  <a:cubicBezTo>
                    <a:pt x="2456" y="1043"/>
                    <a:pt x="2233" y="960"/>
                    <a:pt x="2006" y="960"/>
                  </a:cubicBezTo>
                  <a:cubicBezTo>
                    <a:pt x="1830" y="960"/>
                    <a:pt x="1652" y="1010"/>
                    <a:pt x="1495" y="1109"/>
                  </a:cubicBezTo>
                  <a:lnTo>
                    <a:pt x="861" y="476"/>
                  </a:lnTo>
                  <a:cubicBezTo>
                    <a:pt x="923" y="451"/>
                    <a:pt x="988" y="438"/>
                    <a:pt x="1051" y="438"/>
                  </a:cubicBezTo>
                  <a:cubicBezTo>
                    <a:pt x="1166" y="438"/>
                    <a:pt x="1276" y="479"/>
                    <a:pt x="1358" y="561"/>
                  </a:cubicBezTo>
                  <a:cubicBezTo>
                    <a:pt x="1401" y="604"/>
                    <a:pt x="1457" y="625"/>
                    <a:pt x="1513" y="625"/>
                  </a:cubicBezTo>
                  <a:cubicBezTo>
                    <a:pt x="1569" y="625"/>
                    <a:pt x="1625" y="604"/>
                    <a:pt x="1667" y="561"/>
                  </a:cubicBezTo>
                  <a:cubicBezTo>
                    <a:pt x="1753" y="476"/>
                    <a:pt x="1753" y="338"/>
                    <a:pt x="1667" y="252"/>
                  </a:cubicBezTo>
                  <a:cubicBezTo>
                    <a:pt x="1499" y="84"/>
                    <a:pt x="1276" y="0"/>
                    <a:pt x="10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>
              <a:off x="1565284" y="2313840"/>
              <a:ext cx="451771" cy="474486"/>
            </a:xfrm>
            <a:custGeom>
              <a:avLst/>
              <a:gdLst/>
              <a:ahLst/>
              <a:cxnLst/>
              <a:rect l="l" t="t" r="r" b="b"/>
              <a:pathLst>
                <a:path w="14181" h="14894" extrusionOk="0">
                  <a:moveTo>
                    <a:pt x="10787" y="440"/>
                  </a:moveTo>
                  <a:cubicBezTo>
                    <a:pt x="10928" y="440"/>
                    <a:pt x="11070" y="494"/>
                    <a:pt x="11179" y="602"/>
                  </a:cubicBezTo>
                  <a:cubicBezTo>
                    <a:pt x="11394" y="819"/>
                    <a:pt x="11394" y="1167"/>
                    <a:pt x="11179" y="1384"/>
                  </a:cubicBezTo>
                  <a:lnTo>
                    <a:pt x="9296" y="3264"/>
                  </a:lnTo>
                  <a:cubicBezTo>
                    <a:pt x="8983" y="3028"/>
                    <a:pt x="8614" y="2861"/>
                    <a:pt x="8217" y="2785"/>
                  </a:cubicBezTo>
                  <a:lnTo>
                    <a:pt x="10396" y="602"/>
                  </a:lnTo>
                  <a:cubicBezTo>
                    <a:pt x="10504" y="494"/>
                    <a:pt x="10645" y="440"/>
                    <a:pt x="10787" y="440"/>
                  </a:cubicBezTo>
                  <a:close/>
                  <a:moveTo>
                    <a:pt x="12823" y="583"/>
                  </a:moveTo>
                  <a:cubicBezTo>
                    <a:pt x="12965" y="583"/>
                    <a:pt x="13106" y="638"/>
                    <a:pt x="13215" y="747"/>
                  </a:cubicBezTo>
                  <a:cubicBezTo>
                    <a:pt x="13430" y="962"/>
                    <a:pt x="13430" y="1312"/>
                    <a:pt x="13215" y="1527"/>
                  </a:cubicBezTo>
                  <a:cubicBezTo>
                    <a:pt x="13023" y="1714"/>
                    <a:pt x="11460" y="3275"/>
                    <a:pt x="11202" y="3533"/>
                  </a:cubicBezTo>
                  <a:cubicBezTo>
                    <a:pt x="10958" y="3463"/>
                    <a:pt x="10710" y="3429"/>
                    <a:pt x="10465" y="3429"/>
                  </a:cubicBezTo>
                  <a:cubicBezTo>
                    <a:pt x="10176" y="3429"/>
                    <a:pt x="9893" y="3476"/>
                    <a:pt x="9629" y="3565"/>
                  </a:cubicBezTo>
                  <a:lnTo>
                    <a:pt x="9622" y="3556"/>
                  </a:lnTo>
                  <a:lnTo>
                    <a:pt x="12432" y="747"/>
                  </a:lnTo>
                  <a:cubicBezTo>
                    <a:pt x="12541" y="638"/>
                    <a:pt x="12682" y="583"/>
                    <a:pt x="12823" y="583"/>
                  </a:cubicBezTo>
                  <a:close/>
                  <a:moveTo>
                    <a:pt x="12964" y="2620"/>
                  </a:moveTo>
                  <a:cubicBezTo>
                    <a:pt x="13102" y="2620"/>
                    <a:pt x="13240" y="2671"/>
                    <a:pt x="13347" y="2772"/>
                  </a:cubicBezTo>
                  <a:cubicBezTo>
                    <a:pt x="13571" y="2987"/>
                    <a:pt x="13558" y="3354"/>
                    <a:pt x="13342" y="3571"/>
                  </a:cubicBezTo>
                  <a:lnTo>
                    <a:pt x="12513" y="4401"/>
                  </a:lnTo>
                  <a:cubicBezTo>
                    <a:pt x="12281" y="4117"/>
                    <a:pt x="11984" y="3878"/>
                    <a:pt x="11648" y="3708"/>
                  </a:cubicBezTo>
                  <a:lnTo>
                    <a:pt x="12575" y="2780"/>
                  </a:lnTo>
                  <a:cubicBezTo>
                    <a:pt x="12681" y="2674"/>
                    <a:pt x="12822" y="2620"/>
                    <a:pt x="12964" y="2620"/>
                  </a:cubicBezTo>
                  <a:close/>
                  <a:moveTo>
                    <a:pt x="13087" y="4669"/>
                  </a:moveTo>
                  <a:cubicBezTo>
                    <a:pt x="13224" y="4669"/>
                    <a:pt x="13362" y="4720"/>
                    <a:pt x="13468" y="4821"/>
                  </a:cubicBezTo>
                  <a:cubicBezTo>
                    <a:pt x="13696" y="5040"/>
                    <a:pt x="13679" y="5407"/>
                    <a:pt x="13464" y="5622"/>
                  </a:cubicBezTo>
                  <a:lnTo>
                    <a:pt x="13110" y="5978"/>
                  </a:lnTo>
                  <a:cubicBezTo>
                    <a:pt x="13093" y="5563"/>
                    <a:pt x="12978" y="5143"/>
                    <a:pt x="12769" y="4769"/>
                  </a:cubicBezTo>
                  <a:cubicBezTo>
                    <a:pt x="12863" y="4703"/>
                    <a:pt x="12975" y="4669"/>
                    <a:pt x="13087" y="4669"/>
                  </a:cubicBezTo>
                  <a:close/>
                  <a:moveTo>
                    <a:pt x="10997" y="6070"/>
                  </a:moveTo>
                  <a:cubicBezTo>
                    <a:pt x="11114" y="6070"/>
                    <a:pt x="11223" y="6113"/>
                    <a:pt x="11302" y="6194"/>
                  </a:cubicBezTo>
                  <a:cubicBezTo>
                    <a:pt x="11426" y="6315"/>
                    <a:pt x="11462" y="6507"/>
                    <a:pt x="11388" y="6692"/>
                  </a:cubicBezTo>
                  <a:lnTo>
                    <a:pt x="10803" y="6108"/>
                  </a:lnTo>
                  <a:cubicBezTo>
                    <a:pt x="10868" y="6082"/>
                    <a:pt x="10934" y="6070"/>
                    <a:pt x="10997" y="6070"/>
                  </a:cubicBezTo>
                  <a:close/>
                  <a:moveTo>
                    <a:pt x="7704" y="3172"/>
                  </a:moveTo>
                  <a:cubicBezTo>
                    <a:pt x="8330" y="3172"/>
                    <a:pt x="8954" y="3435"/>
                    <a:pt x="9394" y="3959"/>
                  </a:cubicBezTo>
                  <a:cubicBezTo>
                    <a:pt x="10136" y="4840"/>
                    <a:pt x="10072" y="6170"/>
                    <a:pt x="9239" y="6974"/>
                  </a:cubicBezTo>
                  <a:cubicBezTo>
                    <a:pt x="8807" y="7391"/>
                    <a:pt x="8255" y="7592"/>
                    <a:pt x="7708" y="7592"/>
                  </a:cubicBezTo>
                  <a:cubicBezTo>
                    <a:pt x="6960" y="7592"/>
                    <a:pt x="6219" y="7217"/>
                    <a:pt x="5800" y="6505"/>
                  </a:cubicBezTo>
                  <a:cubicBezTo>
                    <a:pt x="5299" y="5658"/>
                    <a:pt x="5414" y="4546"/>
                    <a:pt x="6141" y="3819"/>
                  </a:cubicBezTo>
                  <a:cubicBezTo>
                    <a:pt x="6572" y="3387"/>
                    <a:pt x="7138" y="3172"/>
                    <a:pt x="7704" y="3172"/>
                  </a:cubicBezTo>
                  <a:close/>
                  <a:moveTo>
                    <a:pt x="10786" y="1"/>
                  </a:moveTo>
                  <a:cubicBezTo>
                    <a:pt x="10534" y="1"/>
                    <a:pt x="10281" y="97"/>
                    <a:pt x="10087" y="290"/>
                  </a:cubicBezTo>
                  <a:lnTo>
                    <a:pt x="7644" y="2733"/>
                  </a:lnTo>
                  <a:cubicBezTo>
                    <a:pt x="7469" y="2740"/>
                    <a:pt x="7290" y="2761"/>
                    <a:pt x="7117" y="2797"/>
                  </a:cubicBezTo>
                  <a:cubicBezTo>
                    <a:pt x="7171" y="2625"/>
                    <a:pt x="7226" y="2452"/>
                    <a:pt x="7284" y="2275"/>
                  </a:cubicBezTo>
                  <a:cubicBezTo>
                    <a:pt x="7441" y="1813"/>
                    <a:pt x="7239" y="1299"/>
                    <a:pt x="6812" y="1079"/>
                  </a:cubicBezTo>
                  <a:cubicBezTo>
                    <a:pt x="6669" y="1006"/>
                    <a:pt x="6517" y="971"/>
                    <a:pt x="6368" y="971"/>
                  </a:cubicBezTo>
                  <a:cubicBezTo>
                    <a:pt x="6023" y="971"/>
                    <a:pt x="5691" y="1156"/>
                    <a:pt x="5514" y="1482"/>
                  </a:cubicBezTo>
                  <a:lnTo>
                    <a:pt x="4190" y="3925"/>
                  </a:lnTo>
                  <a:cubicBezTo>
                    <a:pt x="3868" y="4520"/>
                    <a:pt x="3657" y="5162"/>
                    <a:pt x="3563" y="5835"/>
                  </a:cubicBezTo>
                  <a:cubicBezTo>
                    <a:pt x="3453" y="6633"/>
                    <a:pt x="3173" y="7731"/>
                    <a:pt x="2480" y="8424"/>
                  </a:cubicBezTo>
                  <a:lnTo>
                    <a:pt x="225" y="10677"/>
                  </a:lnTo>
                  <a:cubicBezTo>
                    <a:pt x="1" y="10901"/>
                    <a:pt x="1" y="11263"/>
                    <a:pt x="225" y="11487"/>
                  </a:cubicBezTo>
                  <a:lnTo>
                    <a:pt x="1376" y="12638"/>
                  </a:lnTo>
                  <a:cubicBezTo>
                    <a:pt x="1419" y="12681"/>
                    <a:pt x="1475" y="12702"/>
                    <a:pt x="1531" y="12702"/>
                  </a:cubicBezTo>
                  <a:cubicBezTo>
                    <a:pt x="1587" y="12702"/>
                    <a:pt x="1643" y="12681"/>
                    <a:pt x="1685" y="12638"/>
                  </a:cubicBezTo>
                  <a:cubicBezTo>
                    <a:pt x="1770" y="12553"/>
                    <a:pt x="1770" y="12414"/>
                    <a:pt x="1685" y="12329"/>
                  </a:cubicBezTo>
                  <a:lnTo>
                    <a:pt x="534" y="11178"/>
                  </a:lnTo>
                  <a:cubicBezTo>
                    <a:pt x="481" y="11125"/>
                    <a:pt x="481" y="11042"/>
                    <a:pt x="534" y="10988"/>
                  </a:cubicBezTo>
                  <a:lnTo>
                    <a:pt x="2789" y="8733"/>
                  </a:lnTo>
                  <a:cubicBezTo>
                    <a:pt x="3568" y="7955"/>
                    <a:pt x="3877" y="6761"/>
                    <a:pt x="3996" y="5897"/>
                  </a:cubicBezTo>
                  <a:cubicBezTo>
                    <a:pt x="4084" y="5273"/>
                    <a:pt x="4278" y="4682"/>
                    <a:pt x="4574" y="4134"/>
                  </a:cubicBezTo>
                  <a:lnTo>
                    <a:pt x="5898" y="1689"/>
                  </a:lnTo>
                  <a:cubicBezTo>
                    <a:pt x="5994" y="1510"/>
                    <a:pt x="6176" y="1409"/>
                    <a:pt x="6366" y="1409"/>
                  </a:cubicBezTo>
                  <a:cubicBezTo>
                    <a:pt x="6450" y="1409"/>
                    <a:pt x="6536" y="1428"/>
                    <a:pt x="6616" y="1469"/>
                  </a:cubicBezTo>
                  <a:cubicBezTo>
                    <a:pt x="6851" y="1589"/>
                    <a:pt x="6962" y="1876"/>
                    <a:pt x="6874" y="2134"/>
                  </a:cubicBezTo>
                  <a:cubicBezTo>
                    <a:pt x="6780" y="2412"/>
                    <a:pt x="6693" y="2691"/>
                    <a:pt x="6616" y="2964"/>
                  </a:cubicBezTo>
                  <a:cubicBezTo>
                    <a:pt x="6339" y="3087"/>
                    <a:pt x="6064" y="3275"/>
                    <a:pt x="5834" y="3505"/>
                  </a:cubicBezTo>
                  <a:cubicBezTo>
                    <a:pt x="4804" y="4535"/>
                    <a:pt x="4804" y="6215"/>
                    <a:pt x="5834" y="7249"/>
                  </a:cubicBezTo>
                  <a:cubicBezTo>
                    <a:pt x="6344" y="7757"/>
                    <a:pt x="7020" y="8024"/>
                    <a:pt x="7706" y="8024"/>
                  </a:cubicBezTo>
                  <a:cubicBezTo>
                    <a:pt x="7986" y="8024"/>
                    <a:pt x="8268" y="7979"/>
                    <a:pt x="8541" y="7888"/>
                  </a:cubicBezTo>
                  <a:cubicBezTo>
                    <a:pt x="8996" y="8370"/>
                    <a:pt x="9646" y="8682"/>
                    <a:pt x="10349" y="8714"/>
                  </a:cubicBezTo>
                  <a:cubicBezTo>
                    <a:pt x="9848" y="9172"/>
                    <a:pt x="9315" y="9598"/>
                    <a:pt x="8759" y="9986"/>
                  </a:cubicBezTo>
                  <a:cubicBezTo>
                    <a:pt x="7974" y="10530"/>
                    <a:pt x="7258" y="11123"/>
                    <a:pt x="6629" y="11751"/>
                  </a:cubicBezTo>
                  <a:lnTo>
                    <a:pt x="3964" y="14416"/>
                  </a:lnTo>
                  <a:cubicBezTo>
                    <a:pt x="3938" y="14443"/>
                    <a:pt x="3903" y="14456"/>
                    <a:pt x="3868" y="14456"/>
                  </a:cubicBezTo>
                  <a:cubicBezTo>
                    <a:pt x="3834" y="14456"/>
                    <a:pt x="3799" y="14443"/>
                    <a:pt x="3772" y="14416"/>
                  </a:cubicBezTo>
                  <a:lnTo>
                    <a:pt x="2410" y="13056"/>
                  </a:lnTo>
                  <a:cubicBezTo>
                    <a:pt x="2367" y="13014"/>
                    <a:pt x="2311" y="12992"/>
                    <a:pt x="2255" y="12992"/>
                  </a:cubicBezTo>
                  <a:cubicBezTo>
                    <a:pt x="2199" y="12992"/>
                    <a:pt x="2144" y="13014"/>
                    <a:pt x="2101" y="13056"/>
                  </a:cubicBezTo>
                  <a:cubicBezTo>
                    <a:pt x="2016" y="13141"/>
                    <a:pt x="2016" y="13280"/>
                    <a:pt x="2101" y="13365"/>
                  </a:cubicBezTo>
                  <a:lnTo>
                    <a:pt x="3463" y="14725"/>
                  </a:lnTo>
                  <a:cubicBezTo>
                    <a:pt x="3575" y="14837"/>
                    <a:pt x="3722" y="14893"/>
                    <a:pt x="3868" y="14893"/>
                  </a:cubicBezTo>
                  <a:cubicBezTo>
                    <a:pt x="4015" y="14893"/>
                    <a:pt x="4161" y="14837"/>
                    <a:pt x="4273" y="14725"/>
                  </a:cubicBezTo>
                  <a:lnTo>
                    <a:pt x="6938" y="12061"/>
                  </a:lnTo>
                  <a:cubicBezTo>
                    <a:pt x="7548" y="11451"/>
                    <a:pt x="8243" y="10873"/>
                    <a:pt x="9008" y="10344"/>
                  </a:cubicBezTo>
                  <a:cubicBezTo>
                    <a:pt x="9733" y="9843"/>
                    <a:pt x="10422" y="9274"/>
                    <a:pt x="11051" y="8654"/>
                  </a:cubicBezTo>
                  <a:cubicBezTo>
                    <a:pt x="11353" y="8583"/>
                    <a:pt x="11643" y="8464"/>
                    <a:pt x="11908" y="8294"/>
                  </a:cubicBezTo>
                  <a:cubicBezTo>
                    <a:pt x="12010" y="8227"/>
                    <a:pt x="12038" y="8093"/>
                    <a:pt x="11972" y="7991"/>
                  </a:cubicBezTo>
                  <a:cubicBezTo>
                    <a:pt x="11929" y="7927"/>
                    <a:pt x="11860" y="7892"/>
                    <a:pt x="11788" y="7892"/>
                  </a:cubicBezTo>
                  <a:cubicBezTo>
                    <a:pt x="11748" y="7892"/>
                    <a:pt x="11707" y="7903"/>
                    <a:pt x="11671" y="7927"/>
                  </a:cubicBezTo>
                  <a:cubicBezTo>
                    <a:pt x="11306" y="8163"/>
                    <a:pt x="10889" y="8280"/>
                    <a:pt x="10474" y="8280"/>
                  </a:cubicBezTo>
                  <a:cubicBezTo>
                    <a:pt x="9934" y="8280"/>
                    <a:pt x="9396" y="8084"/>
                    <a:pt x="8978" y="7701"/>
                  </a:cubicBezTo>
                  <a:cubicBezTo>
                    <a:pt x="9484" y="7426"/>
                    <a:pt x="9882" y="6987"/>
                    <a:pt x="10108" y="6496"/>
                  </a:cubicBezTo>
                  <a:cubicBezTo>
                    <a:pt x="10232" y="6475"/>
                    <a:pt x="10349" y="6428"/>
                    <a:pt x="10454" y="6362"/>
                  </a:cubicBezTo>
                  <a:lnTo>
                    <a:pt x="11087" y="6995"/>
                  </a:lnTo>
                  <a:cubicBezTo>
                    <a:pt x="11025" y="7020"/>
                    <a:pt x="10960" y="7033"/>
                    <a:pt x="10896" y="7033"/>
                  </a:cubicBezTo>
                  <a:cubicBezTo>
                    <a:pt x="10782" y="7033"/>
                    <a:pt x="10670" y="6992"/>
                    <a:pt x="10588" y="6910"/>
                  </a:cubicBezTo>
                  <a:cubicBezTo>
                    <a:pt x="10545" y="6867"/>
                    <a:pt x="10489" y="6846"/>
                    <a:pt x="10433" y="6846"/>
                  </a:cubicBezTo>
                  <a:cubicBezTo>
                    <a:pt x="10378" y="6846"/>
                    <a:pt x="10322" y="6867"/>
                    <a:pt x="10279" y="6910"/>
                  </a:cubicBezTo>
                  <a:cubicBezTo>
                    <a:pt x="10194" y="6995"/>
                    <a:pt x="10194" y="7134"/>
                    <a:pt x="10279" y="7219"/>
                  </a:cubicBezTo>
                  <a:cubicBezTo>
                    <a:pt x="10447" y="7387"/>
                    <a:pt x="10669" y="7471"/>
                    <a:pt x="10897" y="7471"/>
                  </a:cubicBezTo>
                  <a:cubicBezTo>
                    <a:pt x="11074" y="7471"/>
                    <a:pt x="11253" y="7419"/>
                    <a:pt x="11409" y="7317"/>
                  </a:cubicBezTo>
                  <a:lnTo>
                    <a:pt x="11430" y="7338"/>
                  </a:lnTo>
                  <a:cubicBezTo>
                    <a:pt x="11473" y="7381"/>
                    <a:pt x="11530" y="7402"/>
                    <a:pt x="11586" y="7402"/>
                  </a:cubicBezTo>
                  <a:cubicBezTo>
                    <a:pt x="11641" y="7402"/>
                    <a:pt x="11697" y="7381"/>
                    <a:pt x="11739" y="7338"/>
                  </a:cubicBezTo>
                  <a:cubicBezTo>
                    <a:pt x="11825" y="7253"/>
                    <a:pt x="11825" y="7115"/>
                    <a:pt x="11739" y="7029"/>
                  </a:cubicBezTo>
                  <a:lnTo>
                    <a:pt x="11718" y="7008"/>
                  </a:lnTo>
                  <a:cubicBezTo>
                    <a:pt x="11946" y="6654"/>
                    <a:pt x="11921" y="6183"/>
                    <a:pt x="11618" y="5878"/>
                  </a:cubicBezTo>
                  <a:cubicBezTo>
                    <a:pt x="11447" y="5709"/>
                    <a:pt x="11225" y="5627"/>
                    <a:pt x="11001" y="5627"/>
                  </a:cubicBezTo>
                  <a:cubicBezTo>
                    <a:pt x="10823" y="5627"/>
                    <a:pt x="10644" y="5678"/>
                    <a:pt x="10488" y="5778"/>
                  </a:cubicBezTo>
                  <a:lnTo>
                    <a:pt x="10343" y="5633"/>
                  </a:lnTo>
                  <a:cubicBezTo>
                    <a:pt x="10349" y="5584"/>
                    <a:pt x="10351" y="5533"/>
                    <a:pt x="10354" y="5482"/>
                  </a:cubicBezTo>
                  <a:cubicBezTo>
                    <a:pt x="10358" y="5396"/>
                    <a:pt x="10358" y="5313"/>
                    <a:pt x="10351" y="5232"/>
                  </a:cubicBezTo>
                  <a:lnTo>
                    <a:pt x="10351" y="5232"/>
                  </a:lnTo>
                  <a:cubicBezTo>
                    <a:pt x="10394" y="5275"/>
                    <a:pt x="10449" y="5296"/>
                    <a:pt x="10507" y="5296"/>
                  </a:cubicBezTo>
                  <a:cubicBezTo>
                    <a:pt x="10562" y="5296"/>
                    <a:pt x="10618" y="5275"/>
                    <a:pt x="10661" y="5232"/>
                  </a:cubicBezTo>
                  <a:cubicBezTo>
                    <a:pt x="10746" y="5147"/>
                    <a:pt x="10746" y="5008"/>
                    <a:pt x="10661" y="4923"/>
                  </a:cubicBezTo>
                  <a:cubicBezTo>
                    <a:pt x="10554" y="4816"/>
                    <a:pt x="10417" y="4737"/>
                    <a:pt x="10268" y="4699"/>
                  </a:cubicBezTo>
                  <a:cubicBezTo>
                    <a:pt x="10194" y="4416"/>
                    <a:pt x="10074" y="4151"/>
                    <a:pt x="9925" y="3925"/>
                  </a:cubicBezTo>
                  <a:cubicBezTo>
                    <a:pt x="10105" y="3880"/>
                    <a:pt x="10287" y="3858"/>
                    <a:pt x="10468" y="3858"/>
                  </a:cubicBezTo>
                  <a:cubicBezTo>
                    <a:pt x="11112" y="3858"/>
                    <a:pt x="11735" y="4138"/>
                    <a:pt x="12161" y="4646"/>
                  </a:cubicBezTo>
                  <a:lnTo>
                    <a:pt x="12164" y="4648"/>
                  </a:lnTo>
                  <a:cubicBezTo>
                    <a:pt x="12780" y="5383"/>
                    <a:pt x="12854" y="6454"/>
                    <a:pt x="12326" y="7268"/>
                  </a:cubicBezTo>
                  <a:cubicBezTo>
                    <a:pt x="12259" y="7368"/>
                    <a:pt x="12289" y="7505"/>
                    <a:pt x="12390" y="7569"/>
                  </a:cubicBezTo>
                  <a:cubicBezTo>
                    <a:pt x="12427" y="7593"/>
                    <a:pt x="12468" y="7604"/>
                    <a:pt x="12509" y="7604"/>
                  </a:cubicBezTo>
                  <a:cubicBezTo>
                    <a:pt x="12581" y="7604"/>
                    <a:pt x="12651" y="7569"/>
                    <a:pt x="12692" y="7505"/>
                  </a:cubicBezTo>
                  <a:cubicBezTo>
                    <a:pt x="12863" y="7242"/>
                    <a:pt x="12982" y="6953"/>
                    <a:pt x="13048" y="6650"/>
                  </a:cubicBezTo>
                  <a:lnTo>
                    <a:pt x="13775" y="5921"/>
                  </a:lnTo>
                  <a:cubicBezTo>
                    <a:pt x="14159" y="5537"/>
                    <a:pt x="14180" y="4887"/>
                    <a:pt x="13773" y="4499"/>
                  </a:cubicBezTo>
                  <a:cubicBezTo>
                    <a:pt x="13630" y="4371"/>
                    <a:pt x="13455" y="4286"/>
                    <a:pt x="13274" y="4251"/>
                  </a:cubicBezTo>
                  <a:lnTo>
                    <a:pt x="13647" y="3878"/>
                  </a:lnTo>
                  <a:cubicBezTo>
                    <a:pt x="14035" y="3490"/>
                    <a:pt x="14050" y="2844"/>
                    <a:pt x="13645" y="2454"/>
                  </a:cubicBezTo>
                  <a:cubicBezTo>
                    <a:pt x="13505" y="2318"/>
                    <a:pt x="13330" y="2232"/>
                    <a:pt x="13151" y="2198"/>
                  </a:cubicBezTo>
                  <a:lnTo>
                    <a:pt x="13519" y="1827"/>
                  </a:lnTo>
                  <a:cubicBezTo>
                    <a:pt x="13907" y="1442"/>
                    <a:pt x="13907" y="819"/>
                    <a:pt x="13519" y="431"/>
                  </a:cubicBezTo>
                  <a:cubicBezTo>
                    <a:pt x="13327" y="238"/>
                    <a:pt x="13074" y="142"/>
                    <a:pt x="12822" y="142"/>
                  </a:cubicBezTo>
                  <a:cubicBezTo>
                    <a:pt x="12570" y="142"/>
                    <a:pt x="12317" y="238"/>
                    <a:pt x="12123" y="431"/>
                  </a:cubicBezTo>
                  <a:lnTo>
                    <a:pt x="11756" y="800"/>
                  </a:lnTo>
                  <a:cubicBezTo>
                    <a:pt x="11718" y="608"/>
                    <a:pt x="11624" y="431"/>
                    <a:pt x="11483" y="290"/>
                  </a:cubicBezTo>
                  <a:cubicBezTo>
                    <a:pt x="11291" y="97"/>
                    <a:pt x="11038" y="1"/>
                    <a:pt x="107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6"/>
          <p:cNvSpPr txBox="1"/>
          <p:nvPr/>
        </p:nvSpPr>
        <p:spPr>
          <a:xfrm>
            <a:off x="5504581" y="2308785"/>
            <a:ext cx="3894772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Revenue loss from room cancellation per year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5497800" y="1767885"/>
            <a:ext cx="29262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€ 2.1M*</a:t>
            </a:r>
            <a:endParaRPr sz="36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5472151" y="3355987"/>
            <a:ext cx="3864126" cy="20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Total no. of days per room cancelled per year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5497800" y="2815085"/>
            <a:ext cx="29262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77,100</a:t>
            </a:r>
            <a:endParaRPr sz="36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5486958" y="4332262"/>
            <a:ext cx="3218820" cy="2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Not require deposit / Refundable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5497800" y="3791360"/>
            <a:ext cx="29262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67%</a:t>
            </a:r>
            <a:endParaRPr sz="36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cxnSp>
        <p:nvCxnSpPr>
          <p:cNvPr id="248" name="Google Shape;248;p6"/>
          <p:cNvCxnSpPr/>
          <p:nvPr/>
        </p:nvCxnSpPr>
        <p:spPr>
          <a:xfrm>
            <a:off x="5479550" y="2744485"/>
            <a:ext cx="3664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9" name="Google Shape;249;p6"/>
          <p:cNvCxnSpPr/>
          <p:nvPr/>
        </p:nvCxnSpPr>
        <p:spPr>
          <a:xfrm>
            <a:off x="5479550" y="3756235"/>
            <a:ext cx="3664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0" name="Google Shape;250;p6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 txBox="1"/>
          <p:nvPr/>
        </p:nvSpPr>
        <p:spPr>
          <a:xfrm flipH="1">
            <a:off x="84148" y="4897279"/>
            <a:ext cx="888205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* Assume 40% of the rooms cancelled became loss, representing ~15% of hotel room’s revenue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7"/>
          <p:cNvSpPr txBox="1">
            <a:spLocks noGrp="1"/>
          </p:cNvSpPr>
          <p:nvPr>
            <p:ph type="title"/>
          </p:nvPr>
        </p:nvSpPr>
        <p:spPr>
          <a:xfrm>
            <a:off x="3367513" y="1747450"/>
            <a:ext cx="4218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About the</a:t>
            </a:r>
            <a:endParaRPr/>
          </a:p>
        </p:txBody>
      </p:sp>
      <p:sp>
        <p:nvSpPr>
          <p:cNvPr id="257" name="Google Shape;257;p7"/>
          <p:cNvSpPr txBox="1">
            <a:spLocks noGrp="1"/>
          </p:cNvSpPr>
          <p:nvPr>
            <p:ph type="title" idx="2"/>
          </p:nvPr>
        </p:nvSpPr>
        <p:spPr>
          <a:xfrm>
            <a:off x="1405188" y="951810"/>
            <a:ext cx="2294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1557588" y="2571750"/>
            <a:ext cx="356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analysis</a:t>
            </a:r>
            <a:endParaRPr sz="1400" b="0" i="0" u="none" strike="noStrike" cap="none">
              <a:solidFill>
                <a:srgbClr val="000000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259" name="Google Shape;259;p7"/>
          <p:cNvCxnSpPr/>
          <p:nvPr/>
        </p:nvCxnSpPr>
        <p:spPr>
          <a:xfrm>
            <a:off x="5123688" y="3028950"/>
            <a:ext cx="20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7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>
            <a:off x="-2095417" y="1544451"/>
            <a:ext cx="4903588" cy="4903588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Analysis: </a:t>
            </a:r>
            <a:br>
              <a:rPr lang="en-US"/>
            </a:br>
            <a:r>
              <a:rPr lang="en-US"/>
              <a:t>cause of booking cancellation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1363724" y="3668671"/>
            <a:ext cx="3381942" cy="96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Reducing the Number of Booking Cancellations and Minimizing the Associated Losses and Negative Impact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705978" y="3008527"/>
            <a:ext cx="4548251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Ultimate goal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8"/>
          <p:cNvCxnSpPr/>
          <p:nvPr/>
        </p:nvCxnSpPr>
        <p:spPr>
          <a:xfrm>
            <a:off x="-565579" y="3599049"/>
            <a:ext cx="5197904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8"/>
          <p:cNvSpPr txBox="1"/>
          <p:nvPr/>
        </p:nvSpPr>
        <p:spPr>
          <a:xfrm>
            <a:off x="5673037" y="1528597"/>
            <a:ext cx="3082148" cy="1750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Utilized data from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119,000 customers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between 2015 and 2017 (pre-COVID) to analyze cancellation reasons</a:t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543108" y="1715386"/>
            <a:ext cx="3212077" cy="140349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5447093" y="3547284"/>
            <a:ext cx="1013083" cy="702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create an evaluation mechanism 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6641616" y="3942200"/>
            <a:ext cx="12583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proactively identify potential booking cancellations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7797941" y="3855061"/>
            <a:ext cx="124682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implement preventive/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corrective actions.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275" name="Google Shape;275;p8"/>
          <p:cNvCxnSpPr/>
          <p:nvPr/>
        </p:nvCxnSpPr>
        <p:spPr>
          <a:xfrm>
            <a:off x="8041712" y="3385756"/>
            <a:ext cx="424817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8"/>
          <p:cNvCxnSpPr/>
          <p:nvPr/>
        </p:nvCxnSpPr>
        <p:spPr>
          <a:xfrm>
            <a:off x="6916352" y="3385756"/>
            <a:ext cx="424817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8"/>
          <p:cNvCxnSpPr/>
          <p:nvPr/>
        </p:nvCxnSpPr>
        <p:spPr>
          <a:xfrm>
            <a:off x="5741225" y="3385756"/>
            <a:ext cx="424817" cy="0"/>
          </a:xfrm>
          <a:prstGeom prst="straightConnector1">
            <a:avLst/>
          </a:prstGeom>
          <a:noFill/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p8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9"/>
          <p:cNvCxnSpPr/>
          <p:nvPr/>
        </p:nvCxnSpPr>
        <p:spPr>
          <a:xfrm>
            <a:off x="1338352" y="3200400"/>
            <a:ext cx="0" cy="1405942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4" name="Google Shape;284;p9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1112234" y="4050907"/>
            <a:ext cx="1840999" cy="40322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Checking missing data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1112234" y="3057535"/>
            <a:ext cx="1840999" cy="40322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Checking duplicate data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1112234" y="3554221"/>
            <a:ext cx="1840999" cy="40322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Identifying outliers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311568" y="3859088"/>
            <a:ext cx="1136926" cy="692889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Random Forest</a:t>
            </a:r>
            <a:endParaRPr sz="1400" b="0" i="0" u="none" strike="noStrike" cap="none">
              <a:solidFill>
                <a:srgbClr val="FFFFFF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311568" y="3031050"/>
            <a:ext cx="1136926" cy="685060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Logistic Regression 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4571999" y="3031050"/>
            <a:ext cx="1136927" cy="692889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Decision Tree</a:t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4571999" y="3859088"/>
            <a:ext cx="1136926" cy="692889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Gradient Boosting</a:t>
            </a:r>
            <a:endParaRPr sz="1400" b="0" i="0" u="none" strike="noStrike" cap="none">
              <a:solidFill>
                <a:srgbClr val="FFFFFF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1701800" y="1422119"/>
            <a:ext cx="687771" cy="68777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228114" y="1422119"/>
            <a:ext cx="687771" cy="687771"/>
          </a:xfrm>
          <a:prstGeom prst="ellipse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6754429" y="1422119"/>
            <a:ext cx="687771" cy="687771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9"/>
          <p:cNvCxnSpPr>
            <a:stCxn id="292" idx="6"/>
            <a:endCxn id="293" idx="2"/>
          </p:cNvCxnSpPr>
          <p:nvPr/>
        </p:nvCxnSpPr>
        <p:spPr>
          <a:xfrm>
            <a:off x="2389571" y="1766004"/>
            <a:ext cx="1838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" name="Google Shape;296;p9"/>
          <p:cNvCxnSpPr>
            <a:stCxn id="293" idx="6"/>
            <a:endCxn id="294" idx="2"/>
          </p:cNvCxnSpPr>
          <p:nvPr/>
        </p:nvCxnSpPr>
        <p:spPr>
          <a:xfrm>
            <a:off x="4915885" y="1766004"/>
            <a:ext cx="1838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7" name="Google Shape;297;p9"/>
          <p:cNvCxnSpPr>
            <a:stCxn id="292" idx="2"/>
          </p:cNvCxnSpPr>
          <p:nvPr/>
        </p:nvCxnSpPr>
        <p:spPr>
          <a:xfrm rot="10800000">
            <a:off x="-290800" y="1766004"/>
            <a:ext cx="199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" name="Google Shape;298;p9"/>
          <p:cNvSpPr txBox="1"/>
          <p:nvPr/>
        </p:nvSpPr>
        <p:spPr>
          <a:xfrm>
            <a:off x="1260814" y="2283977"/>
            <a:ext cx="160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Data Cleansing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3706543" y="2283977"/>
            <a:ext cx="160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0" i="0" u="none" strike="noStrike" cap="none">
                <a:solidFill>
                  <a:srgbClr val="867B4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Develop ML Models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5966594" y="2283977"/>
            <a:ext cx="226343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evaluate performance</a:t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6190767" y="3053313"/>
            <a:ext cx="1840999" cy="40322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Compare ROC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190767" y="3554221"/>
            <a:ext cx="1840999" cy="40322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Compare Recall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1112234" y="4547594"/>
            <a:ext cx="1840999" cy="403225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Features Engineering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 txBox="1">
            <a:spLocks noGrp="1"/>
          </p:cNvSpPr>
          <p:nvPr>
            <p:ph type="subTitle" idx="1"/>
          </p:nvPr>
        </p:nvSpPr>
        <p:spPr>
          <a:xfrm>
            <a:off x="720000" y="1913941"/>
            <a:ext cx="4627856" cy="3011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Eliminate records with adults, children and babies all  showing zero</a:t>
            </a:r>
            <a:endParaRPr/>
          </a:p>
          <a:p>
            <a:pPr marL="22860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Fill the blanks</a:t>
            </a:r>
            <a:endParaRPr/>
          </a:p>
          <a:p>
            <a:pPr marL="6858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Change “Country” from blank to “unknown”</a:t>
            </a:r>
            <a:endParaRPr/>
          </a:p>
          <a:p>
            <a:pPr marL="6858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Change “Meal” from blank to "SC"</a:t>
            </a:r>
            <a:endParaRPr/>
          </a:p>
          <a:p>
            <a:pPr marL="22860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Eliminated irrelevant variables</a:t>
            </a:r>
            <a:endParaRPr/>
          </a:p>
          <a:p>
            <a:pPr marL="6858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Agent ID – irrelevant to running the model</a:t>
            </a:r>
            <a:endParaRPr/>
          </a:p>
          <a:p>
            <a:pPr marL="6858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Company – already covered corporate or non-corporate booking in "distribution_channel"</a:t>
            </a:r>
            <a:endParaRPr/>
          </a:p>
        </p:txBody>
      </p:sp>
      <p:sp>
        <p:nvSpPr>
          <p:cNvPr id="310" name="Google Shape;310;p10"/>
          <p:cNvSpPr txBox="1">
            <a:spLocks noGrp="1"/>
          </p:cNvSpPr>
          <p:nvPr>
            <p:ph type="title"/>
          </p:nvPr>
        </p:nvSpPr>
        <p:spPr>
          <a:xfrm>
            <a:off x="720000" y="972975"/>
            <a:ext cx="3470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/>
              <a:t>Dealing with missing values</a:t>
            </a:r>
            <a:endParaRPr/>
          </a:p>
        </p:txBody>
      </p:sp>
      <p:pic>
        <p:nvPicPr>
          <p:cNvPr id="311" name="Google Shape;31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0803" y="-50"/>
            <a:ext cx="2913197" cy="5143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10"/>
          <p:cNvCxnSpPr/>
          <p:nvPr/>
        </p:nvCxnSpPr>
        <p:spPr>
          <a:xfrm rot="10800000">
            <a:off x="-6926" y="316494"/>
            <a:ext cx="1908744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3" name="Google Shape;313;p10"/>
          <p:cNvSpPr txBox="1"/>
          <p:nvPr/>
        </p:nvSpPr>
        <p:spPr>
          <a:xfrm>
            <a:off x="296518" y="271385"/>
            <a:ext cx="160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Data Cleansing</a:t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6441410" y="2945214"/>
            <a:ext cx="2473990" cy="23613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" name="Google Shape;315;p10"/>
          <p:cNvCxnSpPr/>
          <p:nvPr/>
        </p:nvCxnSpPr>
        <p:spPr>
          <a:xfrm flipH="1">
            <a:off x="4792610" y="3063281"/>
            <a:ext cx="1648800" cy="973800"/>
          </a:xfrm>
          <a:prstGeom prst="bentConnector3">
            <a:avLst>
              <a:gd name="adj1" fmla="val 20193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" name="Google Shape;316;p10"/>
          <p:cNvSpPr/>
          <p:nvPr/>
        </p:nvSpPr>
        <p:spPr>
          <a:xfrm>
            <a:off x="1998396" y="281122"/>
            <a:ext cx="70745" cy="70745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441410" y="1557589"/>
            <a:ext cx="2473990" cy="23613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10"/>
          <p:cNvCxnSpPr>
            <a:stCxn id="318" idx="1"/>
          </p:cNvCxnSpPr>
          <p:nvPr/>
        </p:nvCxnSpPr>
        <p:spPr>
          <a:xfrm flipH="1">
            <a:off x="4792610" y="1675657"/>
            <a:ext cx="1648800" cy="1505700"/>
          </a:xfrm>
          <a:prstGeom prst="bentConnector3">
            <a:avLst>
              <a:gd name="adj1" fmla="val 3188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p10"/>
          <p:cNvSpPr/>
          <p:nvPr/>
        </p:nvSpPr>
        <p:spPr>
          <a:xfrm>
            <a:off x="6441410" y="1161097"/>
            <a:ext cx="2473990" cy="38062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10"/>
          <p:cNvCxnSpPr/>
          <p:nvPr/>
        </p:nvCxnSpPr>
        <p:spPr>
          <a:xfrm flipH="1">
            <a:off x="5082111" y="1351408"/>
            <a:ext cx="1359300" cy="968700"/>
          </a:xfrm>
          <a:prstGeom prst="bentConnector3">
            <a:avLst>
              <a:gd name="adj1" fmla="val 5000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"/>
          <p:cNvSpPr/>
          <p:nvPr/>
        </p:nvSpPr>
        <p:spPr>
          <a:xfrm>
            <a:off x="6345382" y="-76994"/>
            <a:ext cx="2798618" cy="2606675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6345382" y="2529680"/>
            <a:ext cx="2798618" cy="2613819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 txBox="1">
            <a:spLocks noGrp="1"/>
          </p:cNvSpPr>
          <p:nvPr>
            <p:ph type="subTitle" idx="1"/>
          </p:nvPr>
        </p:nvSpPr>
        <p:spPr>
          <a:xfrm>
            <a:off x="720000" y="2204555"/>
            <a:ext cx="4627856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Identify outliers</a:t>
            </a:r>
            <a:endParaRPr/>
          </a:p>
          <a:p>
            <a:pPr marL="22860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Evaluate whether the outliers exist with a reason</a:t>
            </a:r>
            <a:endParaRPr/>
          </a:p>
          <a:p>
            <a:pPr marL="22860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If not, exclude them from the analysis</a:t>
            </a:r>
            <a:endParaRPr/>
          </a:p>
        </p:txBody>
      </p:sp>
      <p:sp>
        <p:nvSpPr>
          <p:cNvPr id="329" name="Google Shape;329;p11"/>
          <p:cNvSpPr txBox="1">
            <a:spLocks noGrp="1"/>
          </p:cNvSpPr>
          <p:nvPr>
            <p:ph type="title"/>
          </p:nvPr>
        </p:nvSpPr>
        <p:spPr>
          <a:xfrm>
            <a:off x="720000" y="972975"/>
            <a:ext cx="3470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/>
              <a:t>Dealing with OUTLIERS</a:t>
            </a:r>
            <a:endParaRPr/>
          </a:p>
        </p:txBody>
      </p:sp>
      <p:sp>
        <p:nvSpPr>
          <p:cNvPr id="330" name="Google Shape;330;p11"/>
          <p:cNvSpPr txBox="1"/>
          <p:nvPr/>
        </p:nvSpPr>
        <p:spPr>
          <a:xfrm>
            <a:off x="296518" y="271385"/>
            <a:ext cx="160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Data Cleansing</a:t>
            </a:r>
            <a:endParaRPr/>
          </a:p>
        </p:txBody>
      </p:sp>
      <p:pic>
        <p:nvPicPr>
          <p:cNvPr id="331" name="Google Shape;33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46844" y="895153"/>
            <a:ext cx="2471121" cy="27157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11"/>
          <p:cNvCxnSpPr/>
          <p:nvPr/>
        </p:nvCxnSpPr>
        <p:spPr>
          <a:xfrm rot="10800000">
            <a:off x="-6926" y="316494"/>
            <a:ext cx="1908744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3" name="Google Shape;333;p11"/>
          <p:cNvSpPr/>
          <p:nvPr/>
        </p:nvSpPr>
        <p:spPr>
          <a:xfrm>
            <a:off x="1998396" y="281122"/>
            <a:ext cx="70745" cy="70745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0803" y="-50"/>
            <a:ext cx="2913197" cy="514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2"/>
          <p:cNvSpPr txBox="1">
            <a:spLocks noGrp="1"/>
          </p:cNvSpPr>
          <p:nvPr>
            <p:ph type="title"/>
          </p:nvPr>
        </p:nvSpPr>
        <p:spPr>
          <a:xfrm>
            <a:off x="720000" y="972975"/>
            <a:ext cx="34701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800"/>
              <a:t>Feature engineering</a:t>
            </a:r>
            <a:endParaRPr/>
          </a:p>
        </p:txBody>
      </p:sp>
      <p:cxnSp>
        <p:nvCxnSpPr>
          <p:cNvPr id="341" name="Google Shape;341;p12"/>
          <p:cNvCxnSpPr/>
          <p:nvPr/>
        </p:nvCxnSpPr>
        <p:spPr>
          <a:xfrm rot="10800000">
            <a:off x="-6926" y="316494"/>
            <a:ext cx="1908744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" name="Google Shape;342;p12"/>
          <p:cNvSpPr txBox="1"/>
          <p:nvPr/>
        </p:nvSpPr>
        <p:spPr>
          <a:xfrm>
            <a:off x="296518" y="271385"/>
            <a:ext cx="1605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Data Cleansing</a:t>
            </a:r>
            <a:endParaRPr/>
          </a:p>
        </p:txBody>
      </p:sp>
      <p:cxnSp>
        <p:nvCxnSpPr>
          <p:cNvPr id="343" name="Google Shape;343;p12"/>
          <p:cNvCxnSpPr>
            <a:stCxn id="344" idx="1"/>
          </p:cNvCxnSpPr>
          <p:nvPr/>
        </p:nvCxnSpPr>
        <p:spPr>
          <a:xfrm flipH="1">
            <a:off x="4805839" y="1037940"/>
            <a:ext cx="1701900" cy="1365900"/>
          </a:xfrm>
          <a:prstGeom prst="bentConnector3">
            <a:avLst>
              <a:gd name="adj1" fmla="val 32921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5" name="Google Shape;345;p12"/>
          <p:cNvSpPr/>
          <p:nvPr/>
        </p:nvSpPr>
        <p:spPr>
          <a:xfrm>
            <a:off x="1998396" y="281122"/>
            <a:ext cx="70745" cy="70745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2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2"/>
          <p:cNvSpPr txBox="1"/>
          <p:nvPr/>
        </p:nvSpPr>
        <p:spPr>
          <a:xfrm>
            <a:off x="719999" y="2204554"/>
            <a:ext cx="4856342" cy="2622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Create a new feature "stays_in_total_duration“</a:t>
            </a:r>
            <a:b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</a:b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to capture the total duration of the customer's reservation in days</a:t>
            </a:r>
            <a:endParaRPr/>
          </a:p>
          <a:p>
            <a:pPr marL="2286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Encode categorical variables 'hotel', 'arrival_date_month', 'meal', 'market_segment', 'distribution_channel', 'reserved_room_type', 'deposit_type', 'customer_type’ </a:t>
            </a:r>
            <a:endParaRPr/>
          </a:p>
          <a:p>
            <a:pPr marL="228600" marR="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Normalize the continuous variables</a:t>
            </a:r>
            <a:endParaRPr/>
          </a:p>
          <a:p>
            <a:pPr marL="228600" marR="0" lvl="1" indent="-1397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  <a:p>
            <a:pPr marL="228600" marR="0" lvl="1" indent="-1397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507739" y="919872"/>
            <a:ext cx="2473990" cy="23613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"/>
          <p:cNvSpPr txBox="1">
            <a:spLocks noGrp="1"/>
          </p:cNvSpPr>
          <p:nvPr>
            <p:ph type="title" idx="6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Develop ML Models</a:t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4958421" y="2761086"/>
            <a:ext cx="1136926" cy="692889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Random Forest</a:t>
            </a:r>
            <a:endParaRPr sz="1400" b="0" i="0" u="none" strike="noStrike" cap="none">
              <a:solidFill>
                <a:srgbClr val="FFFFFF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1136672" y="2768915"/>
            <a:ext cx="1136926" cy="685060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Logistic Regression </a:t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3047546" y="2763696"/>
            <a:ext cx="1136927" cy="692889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Decision Tree</a:t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6869294" y="2766306"/>
            <a:ext cx="1136926" cy="692889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Gradient Boosting</a:t>
            </a:r>
            <a:endParaRPr sz="1400" b="0" i="0" u="none" strike="noStrike" cap="none">
              <a:solidFill>
                <a:srgbClr val="FFFFFF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2014005" y="4011031"/>
            <a:ext cx="5394960" cy="702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Develop 4 different ML models and compare their performance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grpSp>
        <p:nvGrpSpPr>
          <p:cNvPr id="358" name="Google Shape;358;p13"/>
          <p:cNvGrpSpPr/>
          <p:nvPr/>
        </p:nvGrpSpPr>
        <p:grpSpPr>
          <a:xfrm>
            <a:off x="4953611" y="1665935"/>
            <a:ext cx="1148220" cy="922229"/>
            <a:chOff x="6477000" y="1514372"/>
            <a:chExt cx="1148220" cy="922229"/>
          </a:xfrm>
        </p:grpSpPr>
        <p:pic>
          <p:nvPicPr>
            <p:cNvPr id="359" name="Google Shape;359;p13" descr="Fir tree with solid fill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477000" y="1514372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13" descr="Fir tree outlin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10820" y="1522201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1" name="Google Shape;361;p13"/>
          <p:cNvGrpSpPr/>
          <p:nvPr/>
        </p:nvGrpSpPr>
        <p:grpSpPr>
          <a:xfrm>
            <a:off x="1247935" y="1719379"/>
            <a:ext cx="914400" cy="815340"/>
            <a:chOff x="902971" y="1685288"/>
            <a:chExt cx="914400" cy="815340"/>
          </a:xfrm>
        </p:grpSpPr>
        <p:cxnSp>
          <p:nvCxnSpPr>
            <p:cNvPr id="362" name="Google Shape;362;p13"/>
            <p:cNvCxnSpPr/>
            <p:nvPr/>
          </p:nvCxnSpPr>
          <p:spPr>
            <a:xfrm>
              <a:off x="902971" y="1685288"/>
              <a:ext cx="0" cy="81534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3" name="Google Shape;363;p13"/>
            <p:cNvCxnSpPr/>
            <p:nvPr/>
          </p:nvCxnSpPr>
          <p:spPr>
            <a:xfrm rot="10800000">
              <a:off x="902971" y="2500628"/>
              <a:ext cx="914400" cy="0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4" name="Google Shape;364;p13"/>
            <p:cNvSpPr/>
            <p:nvPr/>
          </p:nvSpPr>
          <p:spPr>
            <a:xfrm>
              <a:off x="955358" y="1762673"/>
              <a:ext cx="797242" cy="695184"/>
            </a:xfrm>
            <a:custGeom>
              <a:avLst/>
              <a:gdLst/>
              <a:ahLst/>
              <a:cxnLst/>
              <a:rect l="l" t="t" r="r" b="b"/>
              <a:pathLst>
                <a:path w="877728" h="765367" extrusionOk="0">
                  <a:moveTo>
                    <a:pt x="0" y="762893"/>
                  </a:moveTo>
                  <a:cubicBezTo>
                    <a:pt x="49212" y="766544"/>
                    <a:pt x="130174" y="772973"/>
                    <a:pt x="183832" y="724317"/>
                  </a:cubicBezTo>
                  <a:cubicBezTo>
                    <a:pt x="237490" y="675661"/>
                    <a:pt x="563483" y="220127"/>
                    <a:pt x="679132" y="99477"/>
                  </a:cubicBezTo>
                  <a:cubicBezTo>
                    <a:pt x="794781" y="-21173"/>
                    <a:pt x="842168" y="2957"/>
                    <a:pt x="877728" y="417"/>
                  </a:cubicBezTo>
                </a:path>
              </a:pathLst>
            </a:cu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13"/>
          <p:cNvGrpSpPr/>
          <p:nvPr/>
        </p:nvGrpSpPr>
        <p:grpSpPr>
          <a:xfrm>
            <a:off x="3176682" y="1818871"/>
            <a:ext cx="847355" cy="616357"/>
            <a:chOff x="3012220" y="1892100"/>
            <a:chExt cx="847355" cy="616357"/>
          </a:xfrm>
        </p:grpSpPr>
        <p:sp>
          <p:nvSpPr>
            <p:cNvPr id="366" name="Google Shape;366;p13"/>
            <p:cNvSpPr/>
            <p:nvPr/>
          </p:nvSpPr>
          <p:spPr>
            <a:xfrm>
              <a:off x="3253674" y="1892100"/>
              <a:ext cx="361942" cy="234950"/>
            </a:xfrm>
            <a:prstGeom prst="rect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3"/>
            <p:cNvSpPr/>
            <p:nvPr/>
          </p:nvSpPr>
          <p:spPr>
            <a:xfrm>
              <a:off x="3012220" y="2273507"/>
              <a:ext cx="361942" cy="234950"/>
            </a:xfrm>
            <a:prstGeom prst="rect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3497633" y="2273507"/>
              <a:ext cx="361942" cy="234950"/>
            </a:xfrm>
            <a:prstGeom prst="rect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9" name="Google Shape;369;p13"/>
            <p:cNvCxnSpPr>
              <a:stCxn id="366" idx="2"/>
              <a:endCxn id="367" idx="0"/>
            </p:cNvCxnSpPr>
            <p:nvPr/>
          </p:nvCxnSpPr>
          <p:spPr>
            <a:xfrm flipH="1">
              <a:off x="3193145" y="2127050"/>
              <a:ext cx="241500" cy="146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0" name="Google Shape;370;p13"/>
            <p:cNvCxnSpPr>
              <a:stCxn id="366" idx="2"/>
              <a:endCxn id="368" idx="0"/>
            </p:cNvCxnSpPr>
            <p:nvPr/>
          </p:nvCxnSpPr>
          <p:spPr>
            <a:xfrm>
              <a:off x="3434645" y="2127050"/>
              <a:ext cx="243900" cy="146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71" name="Google Shape;371;p13"/>
          <p:cNvGrpSpPr/>
          <p:nvPr/>
        </p:nvGrpSpPr>
        <p:grpSpPr>
          <a:xfrm>
            <a:off x="7101729" y="1781084"/>
            <a:ext cx="672056" cy="691930"/>
            <a:chOff x="6685863" y="1791572"/>
            <a:chExt cx="672056" cy="691930"/>
          </a:xfrm>
        </p:grpSpPr>
        <p:sp>
          <p:nvSpPr>
            <p:cNvPr id="372" name="Google Shape;372;p13"/>
            <p:cNvSpPr/>
            <p:nvPr/>
          </p:nvSpPr>
          <p:spPr>
            <a:xfrm>
              <a:off x="6919683" y="1791572"/>
              <a:ext cx="209550" cy="2095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3"/>
            <p:cNvSpPr/>
            <p:nvPr/>
          </p:nvSpPr>
          <p:spPr>
            <a:xfrm>
              <a:off x="6733488" y="2098055"/>
              <a:ext cx="209550" cy="2095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3"/>
            <p:cNvSpPr/>
            <p:nvPr/>
          </p:nvSpPr>
          <p:spPr>
            <a:xfrm>
              <a:off x="7100744" y="2102809"/>
              <a:ext cx="209550" cy="2095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5" name="Google Shape;375;p13"/>
            <p:cNvCxnSpPr>
              <a:stCxn id="372" idx="3"/>
              <a:endCxn id="373" idx="0"/>
            </p:cNvCxnSpPr>
            <p:nvPr/>
          </p:nvCxnSpPr>
          <p:spPr>
            <a:xfrm flipH="1">
              <a:off x="6838171" y="1970434"/>
              <a:ext cx="112200" cy="1275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6" name="Google Shape;376;p13"/>
            <p:cNvCxnSpPr>
              <a:stCxn id="372" idx="5"/>
              <a:endCxn id="374" idx="0"/>
            </p:cNvCxnSpPr>
            <p:nvPr/>
          </p:nvCxnSpPr>
          <p:spPr>
            <a:xfrm>
              <a:off x="7098545" y="1970434"/>
              <a:ext cx="107100" cy="132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77" name="Google Shape;377;p13"/>
            <p:cNvSpPr/>
            <p:nvPr/>
          </p:nvSpPr>
          <p:spPr>
            <a:xfrm>
              <a:off x="6685863" y="2355644"/>
              <a:ext cx="120430" cy="1204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3"/>
            <p:cNvSpPr/>
            <p:nvPr/>
          </p:nvSpPr>
          <p:spPr>
            <a:xfrm>
              <a:off x="6838263" y="2355644"/>
              <a:ext cx="120430" cy="1204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3"/>
            <p:cNvSpPr/>
            <p:nvPr/>
          </p:nvSpPr>
          <p:spPr>
            <a:xfrm>
              <a:off x="7085089" y="2363072"/>
              <a:ext cx="120430" cy="1204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3"/>
            <p:cNvSpPr/>
            <p:nvPr/>
          </p:nvSpPr>
          <p:spPr>
            <a:xfrm>
              <a:off x="7237489" y="2363072"/>
              <a:ext cx="120430" cy="1204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1" name="Google Shape;381;p13"/>
            <p:cNvCxnSpPr>
              <a:stCxn id="373" idx="4"/>
              <a:endCxn id="377" idx="0"/>
            </p:cNvCxnSpPr>
            <p:nvPr/>
          </p:nvCxnSpPr>
          <p:spPr>
            <a:xfrm flipH="1">
              <a:off x="6746163" y="2307605"/>
              <a:ext cx="92100" cy="48000"/>
            </a:xfrm>
            <a:prstGeom prst="straightConnector1">
              <a:avLst/>
            </a:prstGeom>
            <a:noFill/>
            <a:ln w="9525" cap="flat" cmpd="sng">
              <a:solidFill>
                <a:srgbClr val="F9F9F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2" name="Google Shape;382;p13"/>
            <p:cNvCxnSpPr>
              <a:stCxn id="373" idx="4"/>
              <a:endCxn id="378" idx="0"/>
            </p:cNvCxnSpPr>
            <p:nvPr/>
          </p:nvCxnSpPr>
          <p:spPr>
            <a:xfrm>
              <a:off x="6838263" y="2307605"/>
              <a:ext cx="60300" cy="48000"/>
            </a:xfrm>
            <a:prstGeom prst="straightConnector1">
              <a:avLst/>
            </a:prstGeom>
            <a:noFill/>
            <a:ln w="9525" cap="flat" cmpd="sng">
              <a:solidFill>
                <a:srgbClr val="F9F9F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3" name="Google Shape;383;p13"/>
            <p:cNvCxnSpPr>
              <a:stCxn id="379" idx="0"/>
              <a:endCxn id="374" idx="4"/>
            </p:cNvCxnSpPr>
            <p:nvPr/>
          </p:nvCxnSpPr>
          <p:spPr>
            <a:xfrm rot="10800000" flipH="1">
              <a:off x="7145304" y="2312372"/>
              <a:ext cx="60300" cy="50700"/>
            </a:xfrm>
            <a:prstGeom prst="straightConnector1">
              <a:avLst/>
            </a:prstGeom>
            <a:noFill/>
            <a:ln w="9525" cap="flat" cmpd="sng">
              <a:solidFill>
                <a:srgbClr val="F9F9F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4" name="Google Shape;384;p13"/>
            <p:cNvCxnSpPr>
              <a:stCxn id="380" idx="0"/>
              <a:endCxn id="374" idx="4"/>
            </p:cNvCxnSpPr>
            <p:nvPr/>
          </p:nvCxnSpPr>
          <p:spPr>
            <a:xfrm rot="10800000">
              <a:off x="7205604" y="2312372"/>
              <a:ext cx="92100" cy="50700"/>
            </a:xfrm>
            <a:prstGeom prst="straightConnector1">
              <a:avLst/>
            </a:prstGeom>
            <a:noFill/>
            <a:ln w="9525" cap="flat" cmpd="sng">
              <a:solidFill>
                <a:srgbClr val="F9F9F9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385" name="Google Shape;385;p13"/>
          <p:cNvCxnSpPr/>
          <p:nvPr/>
        </p:nvCxnSpPr>
        <p:spPr>
          <a:xfrm>
            <a:off x="3629531" y="4086225"/>
            <a:ext cx="20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6" name="Google Shape;386;p13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Logistic regression model</a:t>
            </a:r>
            <a:endParaRPr/>
          </a:p>
        </p:txBody>
      </p:sp>
      <p:sp>
        <p:nvSpPr>
          <p:cNvPr id="392" name="Google Shape;392;p14"/>
          <p:cNvSpPr txBox="1"/>
          <p:nvPr/>
        </p:nvSpPr>
        <p:spPr>
          <a:xfrm>
            <a:off x="257175" y="712499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</a:t>
            </a:r>
            <a:endParaRPr sz="9600" b="0" i="0" u="none" strike="noStrike" cap="none">
              <a:solidFill>
                <a:srgbClr val="3C3C3C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257175" y="2305110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iii</a:t>
            </a:r>
            <a:endParaRPr/>
          </a:p>
        </p:txBody>
      </p:sp>
      <p:sp>
        <p:nvSpPr>
          <p:cNvPr id="394" name="Google Shape;394;p14"/>
          <p:cNvSpPr txBox="1"/>
          <p:nvPr/>
        </p:nvSpPr>
        <p:spPr>
          <a:xfrm>
            <a:off x="7451291" y="1090732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ii</a:t>
            </a:r>
            <a:endParaRPr/>
          </a:p>
        </p:txBody>
      </p:sp>
      <p:sp>
        <p:nvSpPr>
          <p:cNvPr id="395" name="Google Shape;395;p14"/>
          <p:cNvSpPr txBox="1"/>
          <p:nvPr/>
        </p:nvSpPr>
        <p:spPr>
          <a:xfrm>
            <a:off x="7451291" y="3449568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iv</a:t>
            </a:r>
            <a:endParaRPr/>
          </a:p>
        </p:txBody>
      </p:sp>
      <p:sp>
        <p:nvSpPr>
          <p:cNvPr id="396" name="Google Shape;396;p14"/>
          <p:cNvSpPr txBox="1"/>
          <p:nvPr/>
        </p:nvSpPr>
        <p:spPr>
          <a:xfrm>
            <a:off x="987167" y="1607819"/>
            <a:ext cx="283983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Without regularization</a:t>
            </a:r>
            <a:endParaRPr/>
          </a:p>
        </p:txBody>
      </p:sp>
      <p:sp>
        <p:nvSpPr>
          <p:cNvPr id="397" name="Google Shape;397;p14"/>
          <p:cNvSpPr txBox="1"/>
          <p:nvPr/>
        </p:nvSpPr>
        <p:spPr>
          <a:xfrm>
            <a:off x="6059949" y="1951583"/>
            <a:ext cx="283983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LASSO</a:t>
            </a:r>
            <a:endParaRPr/>
          </a:p>
        </p:txBody>
      </p:sp>
      <p:sp>
        <p:nvSpPr>
          <p:cNvPr id="398" name="Google Shape;398;p14"/>
          <p:cNvSpPr txBox="1"/>
          <p:nvPr/>
        </p:nvSpPr>
        <p:spPr>
          <a:xfrm>
            <a:off x="1654636" y="2848389"/>
            <a:ext cx="357325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LASSO with the most optimal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penalty hyper-parameter</a:t>
            </a:r>
            <a:endParaRPr sz="20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4557740" y="3968297"/>
            <a:ext cx="313372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Choose top 15 significant input variables using RFE</a:t>
            </a:r>
            <a:endParaRPr/>
          </a:p>
        </p:txBody>
      </p:sp>
      <p:sp>
        <p:nvSpPr>
          <p:cNvPr id="400" name="Google Shape;400;p14"/>
          <p:cNvSpPr txBox="1"/>
          <p:nvPr/>
        </p:nvSpPr>
        <p:spPr>
          <a:xfrm>
            <a:off x="299370" y="3659984"/>
            <a:ext cx="4448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Use GridSearchCV to compare the ML model performance using different hyper-parameter "C"</a:t>
            </a:r>
            <a:endParaRPr sz="12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401" name="Google Shape;401;p14"/>
          <p:cNvCxnSpPr/>
          <p:nvPr/>
        </p:nvCxnSpPr>
        <p:spPr>
          <a:xfrm>
            <a:off x="-20383" y="2017454"/>
            <a:ext cx="3847384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2" name="Google Shape;402;p14"/>
          <p:cNvCxnSpPr/>
          <p:nvPr/>
        </p:nvCxnSpPr>
        <p:spPr>
          <a:xfrm>
            <a:off x="-20383" y="3608129"/>
            <a:ext cx="5087683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3" name="Google Shape;403;p14"/>
          <p:cNvCxnSpPr/>
          <p:nvPr/>
        </p:nvCxnSpPr>
        <p:spPr>
          <a:xfrm>
            <a:off x="5285042" y="2351693"/>
            <a:ext cx="3847384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4" name="Google Shape;404;p14"/>
          <p:cNvCxnSpPr/>
          <p:nvPr/>
        </p:nvCxnSpPr>
        <p:spPr>
          <a:xfrm>
            <a:off x="3724275" y="4800660"/>
            <a:ext cx="5419725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5" name="Google Shape;405;p14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Compare THE 4 MODELS</a:t>
            </a:r>
            <a:endParaRPr/>
          </a:p>
        </p:txBody>
      </p:sp>
      <p:sp>
        <p:nvSpPr>
          <p:cNvPr id="411" name="Google Shape;411;p15"/>
          <p:cNvSpPr txBox="1"/>
          <p:nvPr/>
        </p:nvSpPr>
        <p:spPr>
          <a:xfrm>
            <a:off x="257175" y="712499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</a:t>
            </a:r>
            <a:endParaRPr sz="9600" b="0" i="0" u="none" strike="noStrike" cap="none">
              <a:solidFill>
                <a:srgbClr val="3C3C3C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412" name="Google Shape;412;p15"/>
          <p:cNvSpPr txBox="1"/>
          <p:nvPr/>
        </p:nvSpPr>
        <p:spPr>
          <a:xfrm>
            <a:off x="257175" y="2305110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iii</a:t>
            </a:r>
            <a:endParaRPr/>
          </a:p>
        </p:txBody>
      </p:sp>
      <p:sp>
        <p:nvSpPr>
          <p:cNvPr id="413" name="Google Shape;413;p15"/>
          <p:cNvSpPr txBox="1"/>
          <p:nvPr/>
        </p:nvSpPr>
        <p:spPr>
          <a:xfrm>
            <a:off x="7451291" y="1090732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ii</a:t>
            </a:r>
            <a:endParaRPr/>
          </a:p>
        </p:txBody>
      </p:sp>
      <p:sp>
        <p:nvSpPr>
          <p:cNvPr id="414" name="Google Shape;414;p15"/>
          <p:cNvSpPr txBox="1"/>
          <p:nvPr/>
        </p:nvSpPr>
        <p:spPr>
          <a:xfrm>
            <a:off x="7451291" y="3449568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iv</a:t>
            </a:r>
            <a:endParaRPr/>
          </a:p>
        </p:txBody>
      </p:sp>
      <p:sp>
        <p:nvSpPr>
          <p:cNvPr id="415" name="Google Shape;415;p15"/>
          <p:cNvSpPr txBox="1"/>
          <p:nvPr/>
        </p:nvSpPr>
        <p:spPr>
          <a:xfrm>
            <a:off x="987167" y="1607819"/>
            <a:ext cx="283983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C3C3C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Without regularization</a:t>
            </a:r>
            <a:endParaRPr/>
          </a:p>
        </p:txBody>
      </p:sp>
      <p:sp>
        <p:nvSpPr>
          <p:cNvPr id="416" name="Google Shape;416;p15"/>
          <p:cNvSpPr txBox="1"/>
          <p:nvPr/>
        </p:nvSpPr>
        <p:spPr>
          <a:xfrm>
            <a:off x="6059949" y="1951583"/>
            <a:ext cx="283983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C3C3C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LASSO</a:t>
            </a:r>
            <a:endParaRPr/>
          </a:p>
        </p:txBody>
      </p:sp>
      <p:sp>
        <p:nvSpPr>
          <p:cNvPr id="417" name="Google Shape;417;p15"/>
          <p:cNvSpPr txBox="1"/>
          <p:nvPr/>
        </p:nvSpPr>
        <p:spPr>
          <a:xfrm>
            <a:off x="1654636" y="2848389"/>
            <a:ext cx="357325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C3C3C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LASSO with the most optimal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C3C3C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penalty hyper-parameter</a:t>
            </a:r>
            <a:endParaRPr sz="2000" b="0" i="0" u="none" strike="noStrike" cap="none">
              <a:solidFill>
                <a:srgbClr val="3C3C3C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18" name="Google Shape;418;p15"/>
          <p:cNvSpPr txBox="1"/>
          <p:nvPr/>
        </p:nvSpPr>
        <p:spPr>
          <a:xfrm>
            <a:off x="4557740" y="3968297"/>
            <a:ext cx="313372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Choose top 15 significant input variables using RFE</a:t>
            </a:r>
            <a:endParaRPr/>
          </a:p>
        </p:txBody>
      </p:sp>
      <p:sp>
        <p:nvSpPr>
          <p:cNvPr id="419" name="Google Shape;419;p15"/>
          <p:cNvSpPr txBox="1"/>
          <p:nvPr/>
        </p:nvSpPr>
        <p:spPr>
          <a:xfrm>
            <a:off x="299370" y="3659984"/>
            <a:ext cx="444817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C3C3C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Use GridSearchCV to compare the ML model performance using different hyper-parameter "C"</a:t>
            </a:r>
            <a:endParaRPr sz="1200" b="0" i="0" u="none" strike="noStrike" cap="none">
              <a:solidFill>
                <a:srgbClr val="3C3C3C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420" name="Google Shape;420;p15"/>
          <p:cNvCxnSpPr/>
          <p:nvPr/>
        </p:nvCxnSpPr>
        <p:spPr>
          <a:xfrm>
            <a:off x="-20383" y="2017454"/>
            <a:ext cx="3847384" cy="0"/>
          </a:xfrm>
          <a:prstGeom prst="straightConnector1">
            <a:avLst/>
          </a:prstGeom>
          <a:noFill/>
          <a:ln w="9525" cap="flat" cmpd="sng">
            <a:solidFill>
              <a:srgbClr val="3C3C3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1" name="Google Shape;421;p15"/>
          <p:cNvCxnSpPr/>
          <p:nvPr/>
        </p:nvCxnSpPr>
        <p:spPr>
          <a:xfrm>
            <a:off x="-20383" y="3608129"/>
            <a:ext cx="5087683" cy="0"/>
          </a:xfrm>
          <a:prstGeom prst="straightConnector1">
            <a:avLst/>
          </a:prstGeom>
          <a:noFill/>
          <a:ln w="9525" cap="flat" cmpd="sng">
            <a:solidFill>
              <a:srgbClr val="3C3C3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2" name="Google Shape;422;p15"/>
          <p:cNvCxnSpPr/>
          <p:nvPr/>
        </p:nvCxnSpPr>
        <p:spPr>
          <a:xfrm>
            <a:off x="5285042" y="2351693"/>
            <a:ext cx="3847384" cy="0"/>
          </a:xfrm>
          <a:prstGeom prst="straightConnector1">
            <a:avLst/>
          </a:prstGeom>
          <a:noFill/>
          <a:ln w="9525" cap="flat" cmpd="sng">
            <a:solidFill>
              <a:srgbClr val="3C3C3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3" name="Google Shape;423;p15"/>
          <p:cNvCxnSpPr/>
          <p:nvPr/>
        </p:nvCxnSpPr>
        <p:spPr>
          <a:xfrm>
            <a:off x="3724275" y="4800660"/>
            <a:ext cx="5419725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4" name="Google Shape;424;p15"/>
          <p:cNvSpPr/>
          <p:nvPr/>
        </p:nvSpPr>
        <p:spPr>
          <a:xfrm>
            <a:off x="4601908" y="1754920"/>
            <a:ext cx="2976515" cy="1473127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BEST MODEL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the simplest one but with the same explanatory power, say, a "Parsimonious Model".</a:t>
            </a:r>
            <a:endParaRPr/>
          </a:p>
        </p:txBody>
      </p:sp>
      <p:cxnSp>
        <p:nvCxnSpPr>
          <p:cNvPr id="425" name="Google Shape;425;p15"/>
          <p:cNvCxnSpPr/>
          <p:nvPr/>
        </p:nvCxnSpPr>
        <p:spPr>
          <a:xfrm>
            <a:off x="6800850" y="3228047"/>
            <a:ext cx="0" cy="658153"/>
          </a:xfrm>
          <a:prstGeom prst="straightConnector1">
            <a:avLst/>
          </a:prstGeom>
          <a:noFill/>
          <a:ln w="76200" cap="flat" cmpd="sng">
            <a:solidFill>
              <a:srgbClr val="867B4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26" name="Google Shape;426;p15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375" y="1062250"/>
            <a:ext cx="3645183" cy="3653966"/>
          </a:xfrm>
          <a:prstGeom prst="rect">
            <a:avLst/>
          </a:prstGeom>
          <a:noFill/>
          <a:ln w="88900" cap="sq" cmpd="thickThin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5935" y="1314708"/>
            <a:ext cx="3060898" cy="3053754"/>
          </a:xfrm>
          <a:prstGeom prst="rect">
            <a:avLst/>
          </a:prstGeom>
          <a:noFill/>
          <a:ln w="88900" cap="sq" cmpd="thickThin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33" name="Google Shape;433;p16"/>
          <p:cNvSpPr txBox="1"/>
          <p:nvPr/>
        </p:nvSpPr>
        <p:spPr>
          <a:xfrm>
            <a:off x="545666" y="3841270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ii</a:t>
            </a:r>
            <a:endParaRPr/>
          </a:p>
        </p:txBody>
      </p:sp>
      <p:sp>
        <p:nvSpPr>
          <p:cNvPr id="434" name="Google Shape;434;p16"/>
          <p:cNvSpPr txBox="1"/>
          <p:nvPr/>
        </p:nvSpPr>
        <p:spPr>
          <a:xfrm>
            <a:off x="545666" y="290154"/>
            <a:ext cx="1664134" cy="219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9600" b="0" i="0" u="none" strike="noStrike" cap="none">
                <a:solidFill>
                  <a:srgbClr val="3C3C3C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</a:t>
            </a:r>
            <a:endParaRPr sz="9600" b="0" i="0" u="none" strike="noStrike" cap="none">
              <a:solidFill>
                <a:srgbClr val="3C3C3C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cxnSp>
        <p:nvCxnSpPr>
          <p:cNvPr id="435" name="Google Shape;435;p16"/>
          <p:cNvCxnSpPr/>
          <p:nvPr/>
        </p:nvCxnSpPr>
        <p:spPr>
          <a:xfrm>
            <a:off x="600075" y="2296929"/>
            <a:ext cx="0" cy="1132852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6" name="Google Shape;436;p1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DECISION TREE</a:t>
            </a:r>
            <a:endParaRPr/>
          </a:p>
        </p:txBody>
      </p:sp>
      <p:sp>
        <p:nvSpPr>
          <p:cNvPr id="437" name="Google Shape;437;p16"/>
          <p:cNvSpPr txBox="1"/>
          <p:nvPr/>
        </p:nvSpPr>
        <p:spPr>
          <a:xfrm>
            <a:off x="338253" y="1167533"/>
            <a:ext cx="1815667" cy="112939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Without</a:t>
            </a:r>
            <a:r>
              <a:rPr lang="en-US" sz="2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 Pre-pruning</a:t>
            </a:r>
            <a:endParaRPr/>
          </a:p>
        </p:txBody>
      </p:sp>
      <p:sp>
        <p:nvSpPr>
          <p:cNvPr id="438" name="Google Shape;438;p16"/>
          <p:cNvSpPr txBox="1"/>
          <p:nvPr/>
        </p:nvSpPr>
        <p:spPr>
          <a:xfrm>
            <a:off x="338253" y="3429781"/>
            <a:ext cx="1889328" cy="112939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With</a:t>
            </a:r>
            <a:r>
              <a:rPr lang="en-US" sz="2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 Pre-pruning</a:t>
            </a:r>
            <a:endParaRPr/>
          </a:p>
        </p:txBody>
      </p:sp>
      <p:sp>
        <p:nvSpPr>
          <p:cNvPr id="439" name="Google Shape;439;p16"/>
          <p:cNvSpPr txBox="1"/>
          <p:nvPr/>
        </p:nvSpPr>
        <p:spPr>
          <a:xfrm>
            <a:off x="2265680" y="1237726"/>
            <a:ext cx="45720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Precision on train is: 0.99398730313759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Precision on test is: </a:t>
            </a:r>
            <a:r>
              <a:rPr lang="en-US" sz="1050" b="0" i="0" u="none" strike="noStrike" cap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0.7494617868675996 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Recall on train is: 0.9801071385578428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Recall on test is: </a:t>
            </a:r>
            <a:r>
              <a:rPr lang="en-US" sz="1050" b="0" i="0" u="none" strike="noStrike" cap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0.7617614879649891 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Accuracy on train is: 0.9904028992639986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Accuracy on test is: </a:t>
            </a:r>
            <a:r>
              <a:rPr lang="en-US" sz="1050" b="0" i="0" u="none" strike="noStrike" cap="none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0.8185966913861951</a:t>
            </a: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 txBox="1"/>
          <p:nvPr/>
        </p:nvSpPr>
        <p:spPr>
          <a:xfrm>
            <a:off x="2265680" y="3463564"/>
            <a:ext cx="4572000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Precision on train is: 0.8645309581956615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Precision on test is: </a:t>
            </a:r>
            <a:r>
              <a:rPr lang="en-US" sz="1050" b="0" i="0" u="none" strike="noStrike" cap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0.817257785467128 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Recall on train is: 0.7244492596605273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Recall on test is: </a:t>
            </a:r>
            <a:r>
              <a:rPr lang="en-US" sz="1050" b="0" i="0" u="none" strike="noStrike" cap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0.6890955506929248 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Accuracy on train is: 0.8553947338985705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5D5D5"/>
                </a:solidFill>
                <a:latin typeface="Courier New"/>
                <a:ea typeface="Courier New"/>
                <a:cs typeface="Courier New"/>
                <a:sym typeface="Courier New"/>
              </a:rPr>
              <a:t>Accuracy on test is: </a:t>
            </a:r>
            <a:r>
              <a:rPr lang="en-US" sz="1050" b="0" i="0" u="none" strike="noStrike" cap="none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0.8288648031945237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 txBox="1"/>
          <p:nvPr/>
        </p:nvSpPr>
        <p:spPr>
          <a:xfrm>
            <a:off x="327522" y="2664878"/>
            <a:ext cx="4124557" cy="3534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Pre-Pruning to solve </a:t>
            </a:r>
            <a:r>
              <a:rPr lang="en-US" sz="1800" b="1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overfitting </a:t>
            </a:r>
            <a:r>
              <a:rPr lang="en-US" sz="18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issues</a:t>
            </a:r>
            <a:endParaRPr/>
          </a:p>
        </p:txBody>
      </p:sp>
      <p:cxnSp>
        <p:nvCxnSpPr>
          <p:cNvPr id="442" name="Google Shape;442;p16"/>
          <p:cNvCxnSpPr/>
          <p:nvPr/>
        </p:nvCxnSpPr>
        <p:spPr>
          <a:xfrm>
            <a:off x="4732655" y="-611119"/>
            <a:ext cx="2988307" cy="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3" name="Google Shape;443;p16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7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Random forest</a:t>
            </a:r>
            <a:endParaRPr/>
          </a:p>
        </p:txBody>
      </p:sp>
      <p:cxnSp>
        <p:nvCxnSpPr>
          <p:cNvPr id="449" name="Google Shape;449;p17"/>
          <p:cNvCxnSpPr/>
          <p:nvPr/>
        </p:nvCxnSpPr>
        <p:spPr>
          <a:xfrm>
            <a:off x="4732655" y="-611119"/>
            <a:ext cx="2988307" cy="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0" name="Google Shape;450;p17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7"/>
          <p:cNvSpPr txBox="1"/>
          <p:nvPr/>
        </p:nvSpPr>
        <p:spPr>
          <a:xfrm>
            <a:off x="795363" y="1891338"/>
            <a:ext cx="2390664" cy="166424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Use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GridSearchCV </a:t>
            </a: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to find the optimal hyper-parameter</a:t>
            </a:r>
            <a:endParaRPr sz="18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52" name="Google Shape;452;p17"/>
          <p:cNvSpPr txBox="1"/>
          <p:nvPr/>
        </p:nvSpPr>
        <p:spPr>
          <a:xfrm>
            <a:off x="3376668" y="1891338"/>
            <a:ext cx="2390664" cy="166424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Fitting </a:t>
            </a: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3 folds </a:t>
            </a: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for each of </a:t>
            </a: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8 candidates</a:t>
            </a: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, </a:t>
            </a: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totaling 24 fits</a:t>
            </a:r>
            <a:endParaRPr sz="1800" b="1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53" name="Google Shape;453;p17"/>
          <p:cNvSpPr txBox="1"/>
          <p:nvPr/>
        </p:nvSpPr>
        <p:spPr>
          <a:xfrm>
            <a:off x="5957973" y="1891338"/>
            <a:ext cx="2390664" cy="1664246"/>
          </a:xfrm>
          <a:prstGeom prst="rect">
            <a:avLst/>
          </a:prstGeom>
          <a:solidFill>
            <a:srgbClr val="867B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n_estimator: 100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min_samples_split: 50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max_depth: 20</a:t>
            </a:r>
            <a:endParaRPr sz="1800" b="1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Gradient boosting</a:t>
            </a:r>
            <a:endParaRPr/>
          </a:p>
        </p:txBody>
      </p:sp>
      <p:cxnSp>
        <p:nvCxnSpPr>
          <p:cNvPr id="459" name="Google Shape;459;p18"/>
          <p:cNvCxnSpPr/>
          <p:nvPr/>
        </p:nvCxnSpPr>
        <p:spPr>
          <a:xfrm>
            <a:off x="4732655" y="-611119"/>
            <a:ext cx="2988307" cy="1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0" name="Google Shape;460;p18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795363" y="1891338"/>
            <a:ext cx="2390664" cy="166424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Use </a:t>
            </a: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GridSearchCV </a:t>
            </a: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to find the optimal hyper-parameter</a:t>
            </a:r>
            <a:endParaRPr sz="18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62" name="Google Shape;462;p18"/>
          <p:cNvSpPr txBox="1"/>
          <p:nvPr/>
        </p:nvSpPr>
        <p:spPr>
          <a:xfrm>
            <a:off x="3376668" y="1891338"/>
            <a:ext cx="2390664" cy="166424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Fitting </a:t>
            </a: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3 folds </a:t>
            </a: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for each of </a:t>
            </a: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8 candidates</a:t>
            </a: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, </a:t>
            </a: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totaling 24 fits</a:t>
            </a:r>
            <a:endParaRPr sz="1800" b="1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63" name="Google Shape;463;p18"/>
          <p:cNvSpPr txBox="1"/>
          <p:nvPr/>
        </p:nvSpPr>
        <p:spPr>
          <a:xfrm>
            <a:off x="5957973" y="1891338"/>
            <a:ext cx="2390664" cy="1664246"/>
          </a:xfrm>
          <a:prstGeom prst="rect">
            <a:avLst/>
          </a:prstGeom>
          <a:solidFill>
            <a:srgbClr val="5C5C5C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Learning rate = 1.0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max_depth = 3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n_estimators = 200</a:t>
            </a:r>
            <a:endParaRPr sz="1800" b="1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817" y="1262524"/>
            <a:ext cx="3417183" cy="3444965"/>
          </a:xfrm>
          <a:prstGeom prst="rect">
            <a:avLst/>
          </a:prstGeom>
          <a:noFill/>
          <a:ln w="88900" cap="sq" cmpd="thickThin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Model comparison: roc</a:t>
            </a:r>
            <a:endParaRPr/>
          </a:p>
        </p:txBody>
      </p:sp>
      <p:sp>
        <p:nvSpPr>
          <p:cNvPr id="470" name="Google Shape;470;p19"/>
          <p:cNvSpPr/>
          <p:nvPr/>
        </p:nvSpPr>
        <p:spPr>
          <a:xfrm>
            <a:off x="4425300" y="2082352"/>
            <a:ext cx="629100" cy="172243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5647454" y="2001297"/>
            <a:ext cx="629100" cy="180348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6869608" y="1920241"/>
            <a:ext cx="629100" cy="1884541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9"/>
          <p:cNvSpPr/>
          <p:nvPr/>
        </p:nvSpPr>
        <p:spPr>
          <a:xfrm>
            <a:off x="8091762" y="2001297"/>
            <a:ext cx="629100" cy="1803485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4" name="Google Shape;474;p19"/>
          <p:cNvCxnSpPr/>
          <p:nvPr/>
        </p:nvCxnSpPr>
        <p:spPr>
          <a:xfrm>
            <a:off x="4425300" y="3868660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5" name="Google Shape;475;p19"/>
          <p:cNvCxnSpPr/>
          <p:nvPr/>
        </p:nvCxnSpPr>
        <p:spPr>
          <a:xfrm>
            <a:off x="5647454" y="3868660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6" name="Google Shape;476;p19"/>
          <p:cNvCxnSpPr/>
          <p:nvPr/>
        </p:nvCxnSpPr>
        <p:spPr>
          <a:xfrm>
            <a:off x="6869608" y="3868660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7" name="Google Shape;477;p19"/>
          <p:cNvCxnSpPr/>
          <p:nvPr/>
        </p:nvCxnSpPr>
        <p:spPr>
          <a:xfrm>
            <a:off x="8091762" y="3868660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8" name="Google Shape;478;p19"/>
          <p:cNvSpPr/>
          <p:nvPr/>
        </p:nvSpPr>
        <p:spPr>
          <a:xfrm>
            <a:off x="6676675" y="4038922"/>
            <a:ext cx="1014969" cy="692889"/>
          </a:xfrm>
          <a:prstGeom prst="rect">
            <a:avLst/>
          </a:prstGeom>
          <a:solidFill>
            <a:srgbClr val="867B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Random Forest</a:t>
            </a:r>
            <a:endParaRPr sz="1400" b="0" i="0" u="none" strike="noStrike" cap="none">
              <a:solidFill>
                <a:schemeClr val="dk2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4232366" y="4046751"/>
            <a:ext cx="1014969" cy="68506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Logistic Regression 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5454520" y="4041532"/>
            <a:ext cx="1014970" cy="6928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Decision Tree</a:t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7898828" y="4046751"/>
            <a:ext cx="1014969" cy="6928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Gradient Boosting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82" name="Google Shape;482;p19"/>
          <p:cNvSpPr txBox="1"/>
          <p:nvPr/>
        </p:nvSpPr>
        <p:spPr>
          <a:xfrm>
            <a:off x="4174631" y="2749488"/>
            <a:ext cx="113043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0.85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483" name="Google Shape;483;p19"/>
          <p:cNvSpPr txBox="1"/>
          <p:nvPr/>
        </p:nvSpPr>
        <p:spPr>
          <a:xfrm>
            <a:off x="5396785" y="2749488"/>
            <a:ext cx="113043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0.88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484" name="Google Shape;484;p19"/>
          <p:cNvSpPr txBox="1"/>
          <p:nvPr/>
        </p:nvSpPr>
        <p:spPr>
          <a:xfrm>
            <a:off x="6618939" y="2749488"/>
            <a:ext cx="113043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0.91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485" name="Google Shape;485;p19"/>
          <p:cNvSpPr txBox="1"/>
          <p:nvPr/>
        </p:nvSpPr>
        <p:spPr>
          <a:xfrm>
            <a:off x="7841093" y="2749488"/>
            <a:ext cx="113043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0.90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6864058" y="1415942"/>
            <a:ext cx="640200" cy="640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9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"/>
          <p:cNvSpPr txBox="1"/>
          <p:nvPr/>
        </p:nvSpPr>
        <p:spPr>
          <a:xfrm>
            <a:off x="4629149" y="3196901"/>
            <a:ext cx="28193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Customer predicted as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“likely to cancel booking”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but actually showing up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93" name="Google Shape;493;p20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Model comparison</a:t>
            </a: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2241946" y="1543048"/>
            <a:ext cx="1476375" cy="147637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False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Negative</a:t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5300661" y="1543048"/>
            <a:ext cx="1476375" cy="147637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False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Positive</a:t>
            </a:r>
            <a:endParaRPr/>
          </a:p>
        </p:txBody>
      </p:sp>
      <p:sp>
        <p:nvSpPr>
          <p:cNvPr id="496" name="Google Shape;496;p20"/>
          <p:cNvSpPr txBox="1"/>
          <p:nvPr/>
        </p:nvSpPr>
        <p:spPr>
          <a:xfrm>
            <a:off x="1570434" y="3196901"/>
            <a:ext cx="281939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Customer predicted as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“NOT likely to cancel booking”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but actually cancelled booking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497" name="Google Shape;497;p20"/>
          <p:cNvSpPr txBox="1"/>
          <p:nvPr/>
        </p:nvSpPr>
        <p:spPr>
          <a:xfrm>
            <a:off x="4173501" y="2004236"/>
            <a:ext cx="67197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VS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pic>
        <p:nvPicPr>
          <p:cNvPr id="498" name="Google Shape;498;p20" descr="Crying face with solid fill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8670" y="3109033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0" descr="Grining and sweating face outline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6598" y="310903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20"/>
          <p:cNvSpPr txBox="1"/>
          <p:nvPr/>
        </p:nvSpPr>
        <p:spPr>
          <a:xfrm>
            <a:off x="9144000" y="78222"/>
            <a:ext cx="2486798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rPr>
              <a:t>Recall (Random Forest): 0.6581840084324649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rPr>
              <a:t>Recall (Gradient Boosting): 0.6956783616925162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rPr>
              <a:t>Recall (Decision Tree with Pre-pruning): 0.6979394602479941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D5D5D5"/>
                </a:solidFill>
                <a:latin typeface="Roboto"/>
                <a:ea typeface="Roboto"/>
                <a:cs typeface="Roboto"/>
                <a:sym typeface="Roboto"/>
              </a:rPr>
              <a:t>Recall (Logistic Regression 4): 0.5978465476997215</a:t>
            </a:r>
            <a:endParaRPr sz="1400" b="0" i="0" u="none" strike="noStrike" cap="none">
              <a:solidFill>
                <a:srgbClr val="D5D5D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20"/>
          <p:cNvSpPr txBox="1"/>
          <p:nvPr/>
        </p:nvSpPr>
        <p:spPr>
          <a:xfrm>
            <a:off x="3475019" y="4297233"/>
            <a:ext cx="206894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“recall”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502" name="Google Shape;502;p20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1"/>
          <p:cNvSpPr/>
          <p:nvPr/>
        </p:nvSpPr>
        <p:spPr>
          <a:xfrm>
            <a:off x="1228338" y="1914079"/>
            <a:ext cx="629100" cy="1408419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3247737" y="1702816"/>
            <a:ext cx="629100" cy="161968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5267138" y="1773237"/>
            <a:ext cx="629100" cy="1549261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7286562" y="1679342"/>
            <a:ext cx="629100" cy="1643156"/>
          </a:xfrm>
          <a:prstGeom prst="rect">
            <a:avLst/>
          </a:prstGeom>
          <a:solidFill>
            <a:srgbClr val="867B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1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Model comparison: recall</a:t>
            </a:r>
            <a:endParaRPr/>
          </a:p>
        </p:txBody>
      </p:sp>
      <p:cxnSp>
        <p:nvCxnSpPr>
          <p:cNvPr id="512" name="Google Shape;512;p21"/>
          <p:cNvCxnSpPr/>
          <p:nvPr/>
        </p:nvCxnSpPr>
        <p:spPr>
          <a:xfrm>
            <a:off x="1228338" y="3370263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3" name="Google Shape;513;p21"/>
          <p:cNvCxnSpPr/>
          <p:nvPr/>
        </p:nvCxnSpPr>
        <p:spPr>
          <a:xfrm>
            <a:off x="3247737" y="3370263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4" name="Google Shape;514;p21"/>
          <p:cNvCxnSpPr/>
          <p:nvPr/>
        </p:nvCxnSpPr>
        <p:spPr>
          <a:xfrm>
            <a:off x="5267138" y="3370263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5" name="Google Shape;515;p21"/>
          <p:cNvCxnSpPr/>
          <p:nvPr/>
        </p:nvCxnSpPr>
        <p:spPr>
          <a:xfrm>
            <a:off x="7286562" y="3370263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6" name="Google Shape;516;p21"/>
          <p:cNvSpPr/>
          <p:nvPr/>
        </p:nvSpPr>
        <p:spPr>
          <a:xfrm>
            <a:off x="5013242" y="3700886"/>
            <a:ext cx="1136926" cy="6928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Random Forest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974425" y="3708715"/>
            <a:ext cx="1136926" cy="68506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Logistic Regression </a:t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2993824" y="3703496"/>
            <a:ext cx="1136927" cy="69288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Decision Tree</a:t>
            </a: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7032649" y="3708715"/>
            <a:ext cx="1136926" cy="692889"/>
          </a:xfrm>
          <a:prstGeom prst="rect">
            <a:avLst/>
          </a:prstGeom>
          <a:solidFill>
            <a:srgbClr val="867B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Gradient Boosting</a:t>
            </a:r>
            <a:endParaRPr sz="1400" b="0" i="0" u="none" strike="noStrike" cap="none">
              <a:solidFill>
                <a:schemeClr val="dk2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520" name="Google Shape;520;p21"/>
          <p:cNvSpPr txBox="1"/>
          <p:nvPr/>
        </p:nvSpPr>
        <p:spPr>
          <a:xfrm>
            <a:off x="977669" y="2182852"/>
            <a:ext cx="113043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0.598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2944558" y="2182852"/>
            <a:ext cx="123545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0.689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522" name="Google Shape;522;p21"/>
          <p:cNvSpPr txBox="1"/>
          <p:nvPr/>
        </p:nvSpPr>
        <p:spPr>
          <a:xfrm>
            <a:off x="5016485" y="2182852"/>
            <a:ext cx="113043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0.658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523" name="Google Shape;523;p21"/>
          <p:cNvSpPr txBox="1"/>
          <p:nvPr/>
        </p:nvSpPr>
        <p:spPr>
          <a:xfrm>
            <a:off x="6990082" y="2182852"/>
            <a:ext cx="122206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0.696</a:t>
            </a:r>
            <a:endParaRPr sz="3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7281302" y="1135340"/>
            <a:ext cx="640200" cy="640200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1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2"/>
          <p:cNvSpPr txBox="1">
            <a:spLocks noGrp="1"/>
          </p:cNvSpPr>
          <p:nvPr>
            <p:ph type="title"/>
          </p:nvPr>
        </p:nvSpPr>
        <p:spPr>
          <a:xfrm>
            <a:off x="3367513" y="1747450"/>
            <a:ext cx="4218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Insights &amp;</a:t>
            </a:r>
            <a:endParaRPr/>
          </a:p>
        </p:txBody>
      </p:sp>
      <p:sp>
        <p:nvSpPr>
          <p:cNvPr id="531" name="Google Shape;531;p22"/>
          <p:cNvSpPr txBox="1">
            <a:spLocks noGrp="1"/>
          </p:cNvSpPr>
          <p:nvPr>
            <p:ph type="title" idx="2"/>
          </p:nvPr>
        </p:nvSpPr>
        <p:spPr>
          <a:xfrm>
            <a:off x="1405188" y="951810"/>
            <a:ext cx="2294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3</a:t>
            </a:r>
            <a:endParaRPr/>
          </a:p>
        </p:txBody>
      </p:sp>
      <p:sp>
        <p:nvSpPr>
          <p:cNvPr id="532" name="Google Shape;532;p22"/>
          <p:cNvSpPr txBox="1"/>
          <p:nvPr/>
        </p:nvSpPr>
        <p:spPr>
          <a:xfrm>
            <a:off x="1557588" y="2571750"/>
            <a:ext cx="3566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actions</a:t>
            </a:r>
            <a:endParaRPr sz="1400" b="0" i="0" u="none" strike="noStrike" cap="none">
              <a:solidFill>
                <a:srgbClr val="000000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533" name="Google Shape;533;p22"/>
          <p:cNvCxnSpPr/>
          <p:nvPr/>
        </p:nvCxnSpPr>
        <p:spPr>
          <a:xfrm>
            <a:off x="5123688" y="3028950"/>
            <a:ext cx="20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4" name="Google Shape;534;p22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"/>
          <p:cNvSpPr/>
          <p:nvPr/>
        </p:nvSpPr>
        <p:spPr>
          <a:xfrm>
            <a:off x="2120205" y="3673932"/>
            <a:ext cx="4903588" cy="4903588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3"/>
          <p:cNvSpPr txBox="1">
            <a:spLocks noGrp="1"/>
          </p:cNvSpPr>
          <p:nvPr>
            <p:ph type="title" idx="6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Actions to take</a:t>
            </a:r>
            <a:endParaRPr/>
          </a:p>
        </p:txBody>
      </p:sp>
      <p:sp>
        <p:nvSpPr>
          <p:cNvPr id="541" name="Google Shape;541;p23"/>
          <p:cNvSpPr txBox="1">
            <a:spLocks noGrp="1"/>
          </p:cNvSpPr>
          <p:nvPr>
            <p:ph type="title"/>
          </p:nvPr>
        </p:nvSpPr>
        <p:spPr>
          <a:xfrm>
            <a:off x="390525" y="1606556"/>
            <a:ext cx="4059600" cy="836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Deploy ml model to predict cancellation</a:t>
            </a:r>
            <a:endParaRPr/>
          </a:p>
        </p:txBody>
      </p:sp>
      <p:sp>
        <p:nvSpPr>
          <p:cNvPr id="542" name="Google Shape;542;p23"/>
          <p:cNvSpPr txBox="1">
            <a:spLocks noGrp="1"/>
          </p:cNvSpPr>
          <p:nvPr>
            <p:ph type="subTitle" idx="1"/>
          </p:nvPr>
        </p:nvSpPr>
        <p:spPr>
          <a:xfrm>
            <a:off x="552643" y="2775920"/>
            <a:ext cx="360435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Everytime a new booking is received, input the booking details into the ML model to predict the likelihood of cancellation</a:t>
            </a:r>
            <a:endParaRPr/>
          </a:p>
        </p:txBody>
      </p:sp>
      <p:sp>
        <p:nvSpPr>
          <p:cNvPr id="543" name="Google Shape;543;p23"/>
          <p:cNvSpPr txBox="1">
            <a:spLocks noGrp="1"/>
          </p:cNvSpPr>
          <p:nvPr>
            <p:ph type="title" idx="2"/>
          </p:nvPr>
        </p:nvSpPr>
        <p:spPr>
          <a:xfrm>
            <a:off x="4450125" y="1654337"/>
            <a:ext cx="4572012" cy="74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Identify key factors</a:t>
            </a:r>
            <a:br>
              <a:rPr lang="en-US"/>
            </a:br>
            <a:r>
              <a:rPr lang="en-US"/>
              <a:t>causing cancellation</a:t>
            </a:r>
            <a:endParaRPr/>
          </a:p>
        </p:txBody>
      </p:sp>
      <p:cxnSp>
        <p:nvCxnSpPr>
          <p:cNvPr id="544" name="Google Shape;544;p23"/>
          <p:cNvCxnSpPr/>
          <p:nvPr/>
        </p:nvCxnSpPr>
        <p:spPr>
          <a:xfrm>
            <a:off x="1305837" y="2609307"/>
            <a:ext cx="2097963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5" name="Google Shape;545;p23"/>
          <p:cNvCxnSpPr/>
          <p:nvPr/>
        </p:nvCxnSpPr>
        <p:spPr>
          <a:xfrm>
            <a:off x="5630187" y="2585416"/>
            <a:ext cx="2097963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6" name="Google Shape;546;p23"/>
          <p:cNvSpPr txBox="1"/>
          <p:nvPr/>
        </p:nvSpPr>
        <p:spPr>
          <a:xfrm>
            <a:off x="4819650" y="2775920"/>
            <a:ext cx="360435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Find out the common factors that the customers who cancel booking have</a:t>
            </a:r>
            <a:endParaRPr/>
          </a:p>
        </p:txBody>
      </p:sp>
      <p:sp>
        <p:nvSpPr>
          <p:cNvPr id="547" name="Google Shape;547;p23"/>
          <p:cNvSpPr txBox="1"/>
          <p:nvPr/>
        </p:nvSpPr>
        <p:spPr>
          <a:xfrm>
            <a:off x="1572697" y="4141935"/>
            <a:ext cx="5998607" cy="66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Take precautionary measures</a:t>
            </a:r>
            <a:endParaRPr/>
          </a:p>
        </p:txBody>
      </p:sp>
      <p:grpSp>
        <p:nvGrpSpPr>
          <p:cNvPr id="548" name="Google Shape;548;p23"/>
          <p:cNvGrpSpPr/>
          <p:nvPr/>
        </p:nvGrpSpPr>
        <p:grpSpPr>
          <a:xfrm>
            <a:off x="4019767" y="4027448"/>
            <a:ext cx="1104465" cy="183000"/>
            <a:chOff x="1335963" y="1499075"/>
            <a:chExt cx="1104465" cy="183000"/>
          </a:xfrm>
        </p:grpSpPr>
        <p:sp>
          <p:nvSpPr>
            <p:cNvPr id="549" name="Google Shape;549;p23"/>
            <p:cNvSpPr/>
            <p:nvPr/>
          </p:nvSpPr>
          <p:spPr>
            <a:xfrm>
              <a:off x="1335963" y="1499075"/>
              <a:ext cx="182700" cy="1830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3"/>
            <p:cNvSpPr/>
            <p:nvPr/>
          </p:nvSpPr>
          <p:spPr>
            <a:xfrm>
              <a:off x="1566404" y="1499075"/>
              <a:ext cx="182700" cy="1830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3"/>
            <p:cNvSpPr/>
            <p:nvPr/>
          </p:nvSpPr>
          <p:spPr>
            <a:xfrm>
              <a:off x="1796845" y="1499075"/>
              <a:ext cx="182700" cy="1830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3"/>
            <p:cNvSpPr/>
            <p:nvPr/>
          </p:nvSpPr>
          <p:spPr>
            <a:xfrm>
              <a:off x="2027287" y="1499075"/>
              <a:ext cx="182700" cy="1830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3"/>
            <p:cNvSpPr/>
            <p:nvPr/>
          </p:nvSpPr>
          <p:spPr>
            <a:xfrm>
              <a:off x="2257728" y="1499075"/>
              <a:ext cx="182700" cy="1830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4" name="Google Shape;554;p23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4"/>
          <p:cNvSpPr/>
          <p:nvPr/>
        </p:nvSpPr>
        <p:spPr>
          <a:xfrm>
            <a:off x="6345382" y="0"/>
            <a:ext cx="2798618" cy="5143499"/>
          </a:xfrm>
          <a:prstGeom prst="rect">
            <a:avLst/>
          </a:prstGeom>
          <a:solidFill>
            <a:srgbClr val="3838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4"/>
          <p:cNvSpPr txBox="1">
            <a:spLocks noGrp="1"/>
          </p:cNvSpPr>
          <p:nvPr>
            <p:ph type="title"/>
          </p:nvPr>
        </p:nvSpPr>
        <p:spPr>
          <a:xfrm>
            <a:off x="719999" y="972975"/>
            <a:ext cx="4236629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000"/>
              <a:t>Model to deploy: </a:t>
            </a:r>
            <a:r>
              <a:rPr lang="en-US" sz="2400" b="1"/>
              <a:t>gradient boosting</a:t>
            </a:r>
            <a:endParaRPr sz="2400" b="1"/>
          </a:p>
        </p:txBody>
      </p:sp>
      <p:sp>
        <p:nvSpPr>
          <p:cNvPr id="561" name="Google Shape;561;p24"/>
          <p:cNvSpPr txBox="1">
            <a:spLocks noGrp="1"/>
          </p:cNvSpPr>
          <p:nvPr>
            <p:ph type="subTitle" idx="1"/>
          </p:nvPr>
        </p:nvSpPr>
        <p:spPr>
          <a:xfrm>
            <a:off x="720000" y="1770215"/>
            <a:ext cx="4627856" cy="14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Gradient Boosting shows the ranking of each variables’ importance in predicting the likelihood of booking cancellation.</a:t>
            </a:r>
            <a:endParaRPr/>
          </a:p>
          <a:p>
            <a:pPr marL="22860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-US"/>
              <a:t>Key factors causing cancellations include:</a:t>
            </a:r>
            <a:endParaRPr/>
          </a:p>
        </p:txBody>
      </p:sp>
      <p:sp>
        <p:nvSpPr>
          <p:cNvPr id="562" name="Google Shape;562;p24"/>
          <p:cNvSpPr txBox="1"/>
          <p:nvPr/>
        </p:nvSpPr>
        <p:spPr>
          <a:xfrm>
            <a:off x="1023908" y="3247902"/>
            <a:ext cx="1511318" cy="666508"/>
          </a:xfrm>
          <a:prstGeom prst="rect">
            <a:avLst/>
          </a:prstGeom>
          <a:solidFill>
            <a:srgbClr val="867B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Refundable/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non-refundable deposits</a:t>
            </a:r>
            <a:endParaRPr/>
          </a:p>
        </p:txBody>
      </p:sp>
      <p:sp>
        <p:nvSpPr>
          <p:cNvPr id="563" name="Google Shape;563;p24"/>
          <p:cNvSpPr txBox="1"/>
          <p:nvPr/>
        </p:nvSpPr>
        <p:spPr>
          <a:xfrm>
            <a:off x="2698697" y="3247902"/>
            <a:ext cx="1511318" cy="666508"/>
          </a:xfrm>
          <a:prstGeom prst="rect">
            <a:avLst/>
          </a:prstGeom>
          <a:solidFill>
            <a:srgbClr val="867B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Booking lead time</a:t>
            </a:r>
            <a:endParaRPr/>
          </a:p>
        </p:txBody>
      </p:sp>
      <p:sp>
        <p:nvSpPr>
          <p:cNvPr id="564" name="Google Shape;564;p24"/>
          <p:cNvSpPr txBox="1"/>
          <p:nvPr/>
        </p:nvSpPr>
        <p:spPr>
          <a:xfrm>
            <a:off x="4361241" y="3247902"/>
            <a:ext cx="1511318" cy="666508"/>
          </a:xfrm>
          <a:prstGeom prst="rect">
            <a:avLst/>
          </a:prstGeom>
          <a:solidFill>
            <a:srgbClr val="877C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200" b="0" i="0" u="none" strike="noStrike" cap="none">
                <a:solidFill>
                  <a:schemeClr val="dk2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No. of special requests</a:t>
            </a:r>
            <a:endParaRPr/>
          </a:p>
        </p:txBody>
      </p:sp>
      <p:sp>
        <p:nvSpPr>
          <p:cNvPr id="565" name="Google Shape;565;p24"/>
          <p:cNvSpPr txBox="1"/>
          <p:nvPr/>
        </p:nvSpPr>
        <p:spPr>
          <a:xfrm>
            <a:off x="2699599" y="4048780"/>
            <a:ext cx="1511317" cy="66650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Market Segment – Online Travel Agency</a:t>
            </a:r>
            <a:endParaRPr/>
          </a:p>
        </p:txBody>
      </p:sp>
      <p:sp>
        <p:nvSpPr>
          <p:cNvPr id="566" name="Google Shape;566;p24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4923839" y="158706"/>
            <a:ext cx="191589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Result of Gradient Boosting model</a:t>
            </a:r>
            <a:endParaRPr/>
          </a:p>
        </p:txBody>
      </p:sp>
      <p:sp>
        <p:nvSpPr>
          <p:cNvPr id="568" name="Google Shape;568;p24"/>
          <p:cNvSpPr txBox="1"/>
          <p:nvPr/>
        </p:nvSpPr>
        <p:spPr>
          <a:xfrm>
            <a:off x="1023908" y="4050229"/>
            <a:ext cx="1511317" cy="66650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Previous cancellation record</a:t>
            </a:r>
            <a:endParaRPr/>
          </a:p>
        </p:txBody>
      </p:sp>
      <p:sp>
        <p:nvSpPr>
          <p:cNvPr id="569" name="Google Shape;569;p24"/>
          <p:cNvSpPr txBox="1"/>
          <p:nvPr/>
        </p:nvSpPr>
        <p:spPr>
          <a:xfrm>
            <a:off x="4359734" y="4048780"/>
            <a:ext cx="1511317" cy="66650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Average Daily Rate</a:t>
            </a:r>
            <a:endParaRPr/>
          </a:p>
        </p:txBody>
      </p:sp>
      <p:cxnSp>
        <p:nvCxnSpPr>
          <p:cNvPr id="570" name="Google Shape;570;p24"/>
          <p:cNvCxnSpPr/>
          <p:nvPr/>
        </p:nvCxnSpPr>
        <p:spPr>
          <a:xfrm flipH="1">
            <a:off x="2089387" y="405081"/>
            <a:ext cx="4470900" cy="1969500"/>
          </a:xfrm>
          <a:prstGeom prst="bentConnector3">
            <a:avLst>
              <a:gd name="adj1" fmla="val 24498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1" name="Google Shape;57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3130" y="132204"/>
            <a:ext cx="1867189" cy="4913318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24"/>
          <p:cNvSpPr/>
          <p:nvPr/>
        </p:nvSpPr>
        <p:spPr>
          <a:xfrm>
            <a:off x="6576162" y="132204"/>
            <a:ext cx="1995831" cy="54993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4"/>
          <p:cNvSpPr txBox="1"/>
          <p:nvPr/>
        </p:nvSpPr>
        <p:spPr>
          <a:xfrm>
            <a:off x="108812" y="318135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Key insights</a:t>
            </a:r>
            <a:endParaRPr sz="4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cxnSp>
        <p:nvCxnSpPr>
          <p:cNvPr id="574" name="Google Shape;574;p24"/>
          <p:cNvCxnSpPr/>
          <p:nvPr/>
        </p:nvCxnSpPr>
        <p:spPr>
          <a:xfrm rot="10800000">
            <a:off x="-6926" y="316494"/>
            <a:ext cx="1908744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5" name="Google Shape;575;p24"/>
          <p:cNvSpPr/>
          <p:nvPr/>
        </p:nvSpPr>
        <p:spPr>
          <a:xfrm>
            <a:off x="1998396" y="281122"/>
            <a:ext cx="70745" cy="70745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5"/>
          <p:cNvSpPr/>
          <p:nvPr/>
        </p:nvSpPr>
        <p:spPr>
          <a:xfrm>
            <a:off x="6345382" y="0"/>
            <a:ext cx="2798618" cy="5143499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5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5"/>
          <p:cNvSpPr txBox="1"/>
          <p:nvPr/>
        </p:nvSpPr>
        <p:spPr>
          <a:xfrm>
            <a:off x="108812" y="318135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Key insights</a:t>
            </a:r>
            <a:endParaRPr sz="4000" b="0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cxnSp>
        <p:nvCxnSpPr>
          <p:cNvPr id="583" name="Google Shape;583;p25"/>
          <p:cNvCxnSpPr/>
          <p:nvPr/>
        </p:nvCxnSpPr>
        <p:spPr>
          <a:xfrm rot="10800000">
            <a:off x="-6926" y="316494"/>
            <a:ext cx="1908744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4" name="Google Shape;584;p25"/>
          <p:cNvSpPr/>
          <p:nvPr/>
        </p:nvSpPr>
        <p:spPr>
          <a:xfrm>
            <a:off x="1998396" y="281122"/>
            <a:ext cx="70745" cy="70745"/>
          </a:xfrm>
          <a:prstGeom prst="star4">
            <a:avLst>
              <a:gd name="adj" fmla="val 1250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5"/>
          <p:cNvSpPr txBox="1"/>
          <p:nvPr/>
        </p:nvSpPr>
        <p:spPr>
          <a:xfrm>
            <a:off x="321840" y="4018370"/>
            <a:ext cx="1158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Does not require deposit</a:t>
            </a:r>
            <a:endParaRPr/>
          </a:p>
        </p:txBody>
      </p:sp>
      <p:sp>
        <p:nvSpPr>
          <p:cNvPr id="586" name="Google Shape;586;p25"/>
          <p:cNvSpPr txBox="1"/>
          <p:nvPr/>
        </p:nvSpPr>
        <p:spPr>
          <a:xfrm>
            <a:off x="2378897" y="4018370"/>
            <a:ext cx="1158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Previously not cancelled</a:t>
            </a:r>
            <a:endParaRPr/>
          </a:p>
        </p:txBody>
      </p:sp>
      <p:sp>
        <p:nvSpPr>
          <p:cNvPr id="587" name="Google Shape;587;p25"/>
          <p:cNvSpPr txBox="1"/>
          <p:nvPr/>
        </p:nvSpPr>
        <p:spPr>
          <a:xfrm>
            <a:off x="4469841" y="4003877"/>
            <a:ext cx="1158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Does not make special request</a:t>
            </a:r>
            <a:endParaRPr/>
          </a:p>
        </p:txBody>
      </p:sp>
      <p:sp>
        <p:nvSpPr>
          <p:cNvPr id="588" name="Google Shape;588;p25"/>
          <p:cNvSpPr/>
          <p:nvPr/>
        </p:nvSpPr>
        <p:spPr>
          <a:xfrm>
            <a:off x="6387346" y="2797454"/>
            <a:ext cx="3212077" cy="1322109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5"/>
          <p:cNvSpPr txBox="1"/>
          <p:nvPr/>
        </p:nvSpPr>
        <p:spPr>
          <a:xfrm>
            <a:off x="6445814" y="2207111"/>
            <a:ext cx="2613628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Other factors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↑</a:t>
            </a:r>
            <a:r>
              <a:rPr lang="en-US" sz="18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 </a:t>
            </a:r>
            <a:r>
              <a:rPr lang="en-US" sz="1400" b="0" i="0" u="none" strike="noStrike" cap="none">
                <a:solidFill>
                  <a:schemeClr val="lt1"/>
                </a:solidFill>
                <a:latin typeface="Josefin Sans"/>
                <a:ea typeface="Josefin Sans"/>
                <a:cs typeface="Josefin Sans"/>
                <a:sym typeface="Josefin Sans"/>
              </a:rPr>
              <a:t>Cancellation rate: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↑ </a:t>
            </a: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Lead time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 Average daily rate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90" name="Google Shape;590;p25"/>
          <p:cNvSpPr txBox="1"/>
          <p:nvPr/>
        </p:nvSpPr>
        <p:spPr>
          <a:xfrm>
            <a:off x="-242160" y="3062704"/>
            <a:ext cx="22860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67%</a:t>
            </a:r>
            <a:endParaRPr/>
          </a:p>
        </p:txBody>
      </p:sp>
      <p:sp>
        <p:nvSpPr>
          <p:cNvPr id="591" name="Google Shape;591;p25"/>
          <p:cNvSpPr txBox="1"/>
          <p:nvPr/>
        </p:nvSpPr>
        <p:spPr>
          <a:xfrm>
            <a:off x="1814909" y="3062692"/>
            <a:ext cx="22860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87%</a:t>
            </a:r>
            <a:endParaRPr/>
          </a:p>
        </p:txBody>
      </p:sp>
      <p:sp>
        <p:nvSpPr>
          <p:cNvPr id="592" name="Google Shape;592;p25"/>
          <p:cNvSpPr txBox="1"/>
          <p:nvPr/>
        </p:nvSpPr>
        <p:spPr>
          <a:xfrm>
            <a:off x="3905841" y="3062692"/>
            <a:ext cx="22860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76%</a:t>
            </a:r>
            <a:endParaRPr/>
          </a:p>
        </p:txBody>
      </p:sp>
      <p:cxnSp>
        <p:nvCxnSpPr>
          <p:cNvPr id="593" name="Google Shape;593;p25"/>
          <p:cNvCxnSpPr/>
          <p:nvPr/>
        </p:nvCxnSpPr>
        <p:spPr>
          <a:xfrm>
            <a:off x="586290" y="3976435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4" name="Google Shape;594;p25"/>
          <p:cNvCxnSpPr/>
          <p:nvPr/>
        </p:nvCxnSpPr>
        <p:spPr>
          <a:xfrm>
            <a:off x="2643347" y="3976435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5" name="Google Shape;595;p25"/>
          <p:cNvCxnSpPr/>
          <p:nvPr/>
        </p:nvCxnSpPr>
        <p:spPr>
          <a:xfrm>
            <a:off x="4709079" y="3976435"/>
            <a:ext cx="629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6" name="Google Shape;596;p25"/>
          <p:cNvSpPr/>
          <p:nvPr/>
        </p:nvSpPr>
        <p:spPr>
          <a:xfrm>
            <a:off x="340026" y="1757145"/>
            <a:ext cx="1133851" cy="113385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268176" y="1685295"/>
            <a:ext cx="1253770" cy="1253770"/>
          </a:xfrm>
          <a:prstGeom prst="pie">
            <a:avLst>
              <a:gd name="adj1" fmla="val 16233604"/>
              <a:gd name="adj2" fmla="val 6118243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2397094" y="1757145"/>
            <a:ext cx="1133851" cy="113385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2325244" y="1685295"/>
            <a:ext cx="1253770" cy="1253770"/>
          </a:xfrm>
          <a:prstGeom prst="pie">
            <a:avLst>
              <a:gd name="adj1" fmla="val 16216820"/>
              <a:gd name="adj2" fmla="val 903562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4462625" y="1757145"/>
            <a:ext cx="1133851" cy="1133851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5"/>
          <p:cNvSpPr/>
          <p:nvPr/>
        </p:nvSpPr>
        <p:spPr>
          <a:xfrm>
            <a:off x="4390775" y="1685295"/>
            <a:ext cx="1253770" cy="1253770"/>
          </a:xfrm>
          <a:prstGeom prst="pie">
            <a:avLst>
              <a:gd name="adj1" fmla="val 16248011"/>
              <a:gd name="adj2" fmla="val 6935295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5"/>
          <p:cNvSpPr txBox="1">
            <a:spLocks noGrp="1"/>
          </p:cNvSpPr>
          <p:nvPr>
            <p:ph type="title"/>
          </p:nvPr>
        </p:nvSpPr>
        <p:spPr>
          <a:xfrm>
            <a:off x="767625" y="921385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 sz="2400" b="1"/>
              <a:t>Major findings on cancellations  </a:t>
            </a:r>
            <a:endParaRPr sz="24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Recommendation</a:t>
            </a:r>
            <a:endParaRPr sz="1200"/>
          </a:p>
        </p:txBody>
      </p:sp>
      <p:sp>
        <p:nvSpPr>
          <p:cNvPr id="608" name="Google Shape;608;p26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6"/>
          <p:cNvSpPr txBox="1"/>
          <p:nvPr/>
        </p:nvSpPr>
        <p:spPr>
          <a:xfrm>
            <a:off x="410784" y="1455998"/>
            <a:ext cx="869060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Target Audience:</a:t>
            </a:r>
            <a:r>
              <a:rPr lang="en-US" sz="14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 Potential customer that has high risk of cancellation</a:t>
            </a:r>
            <a:endParaRPr/>
          </a:p>
        </p:txBody>
      </p:sp>
      <p:sp>
        <p:nvSpPr>
          <p:cNvPr id="610" name="Google Shape;610;p26"/>
          <p:cNvSpPr txBox="1"/>
          <p:nvPr/>
        </p:nvSpPr>
        <p:spPr>
          <a:xfrm>
            <a:off x="4756085" y="2578728"/>
            <a:ext cx="1823147" cy="116946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Require booking deposit</a:t>
            </a:r>
            <a:endParaRPr/>
          </a:p>
        </p:txBody>
      </p:sp>
      <p:sp>
        <p:nvSpPr>
          <p:cNvPr id="611" name="Google Shape;611;p26"/>
          <p:cNvSpPr txBox="1"/>
          <p:nvPr/>
        </p:nvSpPr>
        <p:spPr>
          <a:xfrm>
            <a:off x="2522931" y="2608168"/>
            <a:ext cx="1823147" cy="116946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Send out reminders to confirm hotel booking</a:t>
            </a:r>
            <a:endParaRPr/>
          </a:p>
        </p:txBody>
      </p:sp>
      <p:sp>
        <p:nvSpPr>
          <p:cNvPr id="612" name="Google Shape;612;p26"/>
          <p:cNvSpPr txBox="1"/>
          <p:nvPr/>
        </p:nvSpPr>
        <p:spPr>
          <a:xfrm>
            <a:off x="7009045" y="2571750"/>
            <a:ext cx="1823147" cy="116946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Non-refundable cancellation when the lead time is beyond 20 days*</a:t>
            </a:r>
            <a:endParaRPr/>
          </a:p>
        </p:txBody>
      </p:sp>
      <p:sp>
        <p:nvSpPr>
          <p:cNvPr id="613" name="Google Shape;613;p26"/>
          <p:cNvSpPr txBox="1"/>
          <p:nvPr/>
        </p:nvSpPr>
        <p:spPr>
          <a:xfrm>
            <a:off x="266564" y="2608168"/>
            <a:ext cx="1823147" cy="116946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Extra loyalty award for non-cancellation, e.g. free breakfast / dining coupons</a:t>
            </a:r>
            <a:endParaRPr/>
          </a:p>
        </p:txBody>
      </p:sp>
      <p:grpSp>
        <p:nvGrpSpPr>
          <p:cNvPr id="614" name="Google Shape;614;p26"/>
          <p:cNvGrpSpPr/>
          <p:nvPr/>
        </p:nvGrpSpPr>
        <p:grpSpPr>
          <a:xfrm>
            <a:off x="2522931" y="2179514"/>
            <a:ext cx="362223" cy="361108"/>
            <a:chOff x="3513010" y="3816134"/>
            <a:chExt cx="362223" cy="361108"/>
          </a:xfrm>
        </p:grpSpPr>
        <p:sp>
          <p:nvSpPr>
            <p:cNvPr id="615" name="Google Shape;615;p26"/>
            <p:cNvSpPr/>
            <p:nvPr/>
          </p:nvSpPr>
          <p:spPr>
            <a:xfrm>
              <a:off x="3513010" y="3816134"/>
              <a:ext cx="362223" cy="361108"/>
            </a:xfrm>
            <a:custGeom>
              <a:avLst/>
              <a:gdLst/>
              <a:ahLst/>
              <a:cxnLst/>
              <a:rect l="l" t="t" r="r" b="b"/>
              <a:pathLst>
                <a:path w="11371" h="11336" extrusionOk="0">
                  <a:moveTo>
                    <a:pt x="1381" y="346"/>
                  </a:moveTo>
                  <a:cubicBezTo>
                    <a:pt x="1846" y="358"/>
                    <a:pt x="2262" y="715"/>
                    <a:pt x="2358" y="1191"/>
                  </a:cubicBezTo>
                  <a:lnTo>
                    <a:pt x="1881" y="1191"/>
                  </a:lnTo>
                  <a:cubicBezTo>
                    <a:pt x="1786" y="1191"/>
                    <a:pt x="1715" y="1263"/>
                    <a:pt x="1715" y="1358"/>
                  </a:cubicBezTo>
                  <a:cubicBezTo>
                    <a:pt x="1715" y="1727"/>
                    <a:pt x="1417" y="2025"/>
                    <a:pt x="1048" y="2025"/>
                  </a:cubicBezTo>
                  <a:cubicBezTo>
                    <a:pt x="667" y="2025"/>
                    <a:pt x="369" y="1727"/>
                    <a:pt x="369" y="1358"/>
                  </a:cubicBezTo>
                  <a:cubicBezTo>
                    <a:pt x="369" y="798"/>
                    <a:pt x="822" y="346"/>
                    <a:pt x="1381" y="346"/>
                  </a:cubicBezTo>
                  <a:close/>
                  <a:moveTo>
                    <a:pt x="2358" y="1537"/>
                  </a:moveTo>
                  <a:lnTo>
                    <a:pt x="2358" y="2037"/>
                  </a:lnTo>
                  <a:lnTo>
                    <a:pt x="1774" y="2037"/>
                  </a:lnTo>
                  <a:cubicBezTo>
                    <a:pt x="1893" y="1906"/>
                    <a:pt x="1977" y="1727"/>
                    <a:pt x="2012" y="1537"/>
                  </a:cubicBezTo>
                  <a:close/>
                  <a:moveTo>
                    <a:pt x="9109" y="4489"/>
                  </a:moveTo>
                  <a:lnTo>
                    <a:pt x="9109" y="4489"/>
                  </a:lnTo>
                  <a:cubicBezTo>
                    <a:pt x="8739" y="5049"/>
                    <a:pt x="8287" y="5585"/>
                    <a:pt x="7787" y="6085"/>
                  </a:cubicBezTo>
                  <a:cubicBezTo>
                    <a:pt x="7275" y="6597"/>
                    <a:pt x="6739" y="7037"/>
                    <a:pt x="6192" y="7406"/>
                  </a:cubicBezTo>
                  <a:cubicBezTo>
                    <a:pt x="6584" y="6859"/>
                    <a:pt x="7013" y="6323"/>
                    <a:pt x="7513" y="5823"/>
                  </a:cubicBezTo>
                  <a:cubicBezTo>
                    <a:pt x="8025" y="5311"/>
                    <a:pt x="8561" y="4870"/>
                    <a:pt x="9109" y="4489"/>
                  </a:cubicBezTo>
                  <a:close/>
                  <a:moveTo>
                    <a:pt x="4036" y="9359"/>
                  </a:moveTo>
                  <a:cubicBezTo>
                    <a:pt x="4346" y="9359"/>
                    <a:pt x="4620" y="9573"/>
                    <a:pt x="4691" y="9871"/>
                  </a:cubicBezTo>
                  <a:lnTo>
                    <a:pt x="3382" y="9871"/>
                  </a:lnTo>
                  <a:cubicBezTo>
                    <a:pt x="3453" y="9573"/>
                    <a:pt x="3727" y="9359"/>
                    <a:pt x="4036" y="9359"/>
                  </a:cubicBezTo>
                  <a:close/>
                  <a:moveTo>
                    <a:pt x="10359" y="9359"/>
                  </a:moveTo>
                  <a:cubicBezTo>
                    <a:pt x="10728" y="9359"/>
                    <a:pt x="11025" y="9657"/>
                    <a:pt x="11025" y="10026"/>
                  </a:cubicBezTo>
                  <a:cubicBezTo>
                    <a:pt x="11025" y="10597"/>
                    <a:pt x="10585" y="11038"/>
                    <a:pt x="10037" y="11038"/>
                  </a:cubicBezTo>
                  <a:lnTo>
                    <a:pt x="4584" y="11038"/>
                  </a:lnTo>
                  <a:cubicBezTo>
                    <a:pt x="4870" y="10788"/>
                    <a:pt x="5037" y="10431"/>
                    <a:pt x="5037" y="10026"/>
                  </a:cubicBezTo>
                  <a:cubicBezTo>
                    <a:pt x="5037" y="9776"/>
                    <a:pt x="4929" y="9538"/>
                    <a:pt x="4775" y="9359"/>
                  </a:cubicBezTo>
                  <a:close/>
                  <a:moveTo>
                    <a:pt x="1346" y="1"/>
                  </a:moveTo>
                  <a:cubicBezTo>
                    <a:pt x="596" y="1"/>
                    <a:pt x="0" y="596"/>
                    <a:pt x="0" y="1334"/>
                  </a:cubicBezTo>
                  <a:cubicBezTo>
                    <a:pt x="0" y="1906"/>
                    <a:pt x="465" y="2346"/>
                    <a:pt x="1012" y="2346"/>
                  </a:cubicBezTo>
                  <a:lnTo>
                    <a:pt x="2358" y="2346"/>
                  </a:lnTo>
                  <a:lnTo>
                    <a:pt x="2358" y="7514"/>
                  </a:lnTo>
                  <a:cubicBezTo>
                    <a:pt x="2358" y="7609"/>
                    <a:pt x="2429" y="7680"/>
                    <a:pt x="2512" y="7680"/>
                  </a:cubicBezTo>
                  <a:cubicBezTo>
                    <a:pt x="2608" y="7680"/>
                    <a:pt x="2679" y="7609"/>
                    <a:pt x="2679" y="7514"/>
                  </a:cubicBezTo>
                  <a:lnTo>
                    <a:pt x="2679" y="1334"/>
                  </a:lnTo>
                  <a:cubicBezTo>
                    <a:pt x="2679" y="929"/>
                    <a:pt x="2501" y="572"/>
                    <a:pt x="2239" y="322"/>
                  </a:cubicBezTo>
                  <a:lnTo>
                    <a:pt x="7680" y="322"/>
                  </a:lnTo>
                  <a:cubicBezTo>
                    <a:pt x="8227" y="322"/>
                    <a:pt x="8680" y="775"/>
                    <a:pt x="8680" y="1334"/>
                  </a:cubicBezTo>
                  <a:lnTo>
                    <a:pt x="8680" y="2870"/>
                  </a:lnTo>
                  <a:cubicBezTo>
                    <a:pt x="8192" y="3108"/>
                    <a:pt x="7739" y="3430"/>
                    <a:pt x="7358" y="3811"/>
                  </a:cubicBezTo>
                  <a:cubicBezTo>
                    <a:pt x="6549" y="4608"/>
                    <a:pt x="6537" y="5192"/>
                    <a:pt x="6525" y="6144"/>
                  </a:cubicBezTo>
                  <a:lnTo>
                    <a:pt x="6525" y="6394"/>
                  </a:lnTo>
                  <a:cubicBezTo>
                    <a:pt x="6132" y="6859"/>
                    <a:pt x="5811" y="7347"/>
                    <a:pt x="5513" y="7847"/>
                  </a:cubicBezTo>
                  <a:cubicBezTo>
                    <a:pt x="5465" y="7907"/>
                    <a:pt x="5477" y="7990"/>
                    <a:pt x="5537" y="8049"/>
                  </a:cubicBezTo>
                  <a:cubicBezTo>
                    <a:pt x="5572" y="8085"/>
                    <a:pt x="5608" y="8097"/>
                    <a:pt x="5656" y="8097"/>
                  </a:cubicBezTo>
                  <a:cubicBezTo>
                    <a:pt x="5691" y="8097"/>
                    <a:pt x="5715" y="8097"/>
                    <a:pt x="5751" y="8061"/>
                  </a:cubicBezTo>
                  <a:cubicBezTo>
                    <a:pt x="6251" y="7776"/>
                    <a:pt x="6727" y="7442"/>
                    <a:pt x="7192" y="7049"/>
                  </a:cubicBezTo>
                  <a:lnTo>
                    <a:pt x="7442" y="7049"/>
                  </a:lnTo>
                  <a:cubicBezTo>
                    <a:pt x="7930" y="7037"/>
                    <a:pt x="8323" y="7037"/>
                    <a:pt x="8692" y="6918"/>
                  </a:cubicBezTo>
                  <a:lnTo>
                    <a:pt x="8692" y="9002"/>
                  </a:lnTo>
                  <a:lnTo>
                    <a:pt x="4036" y="9002"/>
                  </a:lnTo>
                  <a:cubicBezTo>
                    <a:pt x="3465" y="9002"/>
                    <a:pt x="3024" y="9466"/>
                    <a:pt x="3024" y="10014"/>
                  </a:cubicBezTo>
                  <a:cubicBezTo>
                    <a:pt x="3024" y="10097"/>
                    <a:pt x="3096" y="10181"/>
                    <a:pt x="3191" y="10181"/>
                  </a:cubicBezTo>
                  <a:lnTo>
                    <a:pt x="4691" y="10181"/>
                  </a:lnTo>
                  <a:cubicBezTo>
                    <a:pt x="4620" y="10657"/>
                    <a:pt x="4203" y="11014"/>
                    <a:pt x="3691" y="11014"/>
                  </a:cubicBezTo>
                  <a:cubicBezTo>
                    <a:pt x="3144" y="11014"/>
                    <a:pt x="2679" y="10562"/>
                    <a:pt x="2679" y="10002"/>
                  </a:cubicBezTo>
                  <a:lnTo>
                    <a:pt x="2679" y="8168"/>
                  </a:lnTo>
                  <a:cubicBezTo>
                    <a:pt x="2679" y="8085"/>
                    <a:pt x="2608" y="8002"/>
                    <a:pt x="2512" y="8002"/>
                  </a:cubicBezTo>
                  <a:cubicBezTo>
                    <a:pt x="2429" y="8002"/>
                    <a:pt x="2358" y="8085"/>
                    <a:pt x="2358" y="8168"/>
                  </a:cubicBezTo>
                  <a:lnTo>
                    <a:pt x="2358" y="10002"/>
                  </a:lnTo>
                  <a:cubicBezTo>
                    <a:pt x="2358" y="10740"/>
                    <a:pt x="2953" y="11335"/>
                    <a:pt x="3691" y="11335"/>
                  </a:cubicBezTo>
                  <a:lnTo>
                    <a:pt x="10013" y="11335"/>
                  </a:lnTo>
                  <a:cubicBezTo>
                    <a:pt x="10764" y="11335"/>
                    <a:pt x="11359" y="10740"/>
                    <a:pt x="11359" y="10002"/>
                  </a:cubicBezTo>
                  <a:cubicBezTo>
                    <a:pt x="11371" y="9478"/>
                    <a:pt x="10930" y="9038"/>
                    <a:pt x="10359" y="9038"/>
                  </a:cubicBezTo>
                  <a:lnTo>
                    <a:pt x="9025" y="9038"/>
                  </a:lnTo>
                  <a:lnTo>
                    <a:pt x="9025" y="6811"/>
                  </a:lnTo>
                  <a:cubicBezTo>
                    <a:pt x="9263" y="6692"/>
                    <a:pt x="9513" y="6513"/>
                    <a:pt x="9775" y="6252"/>
                  </a:cubicBezTo>
                  <a:cubicBezTo>
                    <a:pt x="10013" y="6013"/>
                    <a:pt x="10228" y="5763"/>
                    <a:pt x="10406" y="5478"/>
                  </a:cubicBezTo>
                  <a:cubicBezTo>
                    <a:pt x="10430" y="5430"/>
                    <a:pt x="10430" y="5370"/>
                    <a:pt x="10418" y="5311"/>
                  </a:cubicBezTo>
                  <a:cubicBezTo>
                    <a:pt x="10394" y="5251"/>
                    <a:pt x="10347" y="5228"/>
                    <a:pt x="10299" y="5204"/>
                  </a:cubicBezTo>
                  <a:lnTo>
                    <a:pt x="9894" y="5132"/>
                  </a:lnTo>
                  <a:cubicBezTo>
                    <a:pt x="10728" y="4489"/>
                    <a:pt x="11264" y="3525"/>
                    <a:pt x="11323" y="2465"/>
                  </a:cubicBezTo>
                  <a:lnTo>
                    <a:pt x="11323" y="2453"/>
                  </a:lnTo>
                  <a:cubicBezTo>
                    <a:pt x="11323" y="2406"/>
                    <a:pt x="11311" y="2358"/>
                    <a:pt x="11287" y="2322"/>
                  </a:cubicBezTo>
                  <a:cubicBezTo>
                    <a:pt x="11252" y="2287"/>
                    <a:pt x="11204" y="2275"/>
                    <a:pt x="11145" y="2275"/>
                  </a:cubicBezTo>
                  <a:cubicBezTo>
                    <a:pt x="10764" y="2311"/>
                    <a:pt x="10394" y="2346"/>
                    <a:pt x="10037" y="2430"/>
                  </a:cubicBezTo>
                  <a:cubicBezTo>
                    <a:pt x="9942" y="2442"/>
                    <a:pt x="9882" y="2525"/>
                    <a:pt x="9894" y="2620"/>
                  </a:cubicBezTo>
                  <a:cubicBezTo>
                    <a:pt x="9916" y="2696"/>
                    <a:pt x="9988" y="2753"/>
                    <a:pt x="10073" y="2753"/>
                  </a:cubicBezTo>
                  <a:cubicBezTo>
                    <a:pt x="10080" y="2753"/>
                    <a:pt x="10089" y="2752"/>
                    <a:pt x="10097" y="2751"/>
                  </a:cubicBezTo>
                  <a:cubicBezTo>
                    <a:pt x="10371" y="2692"/>
                    <a:pt x="10656" y="2644"/>
                    <a:pt x="10966" y="2620"/>
                  </a:cubicBezTo>
                  <a:lnTo>
                    <a:pt x="10966" y="2620"/>
                  </a:lnTo>
                  <a:cubicBezTo>
                    <a:pt x="10847" y="3632"/>
                    <a:pt x="10275" y="4537"/>
                    <a:pt x="9382" y="5073"/>
                  </a:cubicBezTo>
                  <a:lnTo>
                    <a:pt x="9359" y="5085"/>
                  </a:lnTo>
                  <a:cubicBezTo>
                    <a:pt x="9299" y="5120"/>
                    <a:pt x="9275" y="5192"/>
                    <a:pt x="9287" y="5263"/>
                  </a:cubicBezTo>
                  <a:cubicBezTo>
                    <a:pt x="9299" y="5347"/>
                    <a:pt x="9359" y="5382"/>
                    <a:pt x="9418" y="5406"/>
                  </a:cubicBezTo>
                  <a:lnTo>
                    <a:pt x="9978" y="5490"/>
                  </a:lnTo>
                  <a:cubicBezTo>
                    <a:pt x="9835" y="5668"/>
                    <a:pt x="9692" y="5847"/>
                    <a:pt x="9525" y="6002"/>
                  </a:cubicBezTo>
                  <a:cubicBezTo>
                    <a:pt x="8870" y="6656"/>
                    <a:pt x="8406" y="6716"/>
                    <a:pt x="7573" y="6728"/>
                  </a:cubicBezTo>
                  <a:cubicBezTo>
                    <a:pt x="7727" y="6597"/>
                    <a:pt x="7870" y="6454"/>
                    <a:pt x="8013" y="6311"/>
                  </a:cubicBezTo>
                  <a:cubicBezTo>
                    <a:pt x="8728" y="5597"/>
                    <a:pt x="9299" y="4835"/>
                    <a:pt x="9775" y="4037"/>
                  </a:cubicBezTo>
                  <a:cubicBezTo>
                    <a:pt x="9823" y="3977"/>
                    <a:pt x="9811" y="3882"/>
                    <a:pt x="9751" y="3823"/>
                  </a:cubicBezTo>
                  <a:cubicBezTo>
                    <a:pt x="9718" y="3789"/>
                    <a:pt x="9681" y="3774"/>
                    <a:pt x="9639" y="3774"/>
                  </a:cubicBezTo>
                  <a:cubicBezTo>
                    <a:pt x="9608" y="3774"/>
                    <a:pt x="9574" y="3783"/>
                    <a:pt x="9537" y="3799"/>
                  </a:cubicBezTo>
                  <a:cubicBezTo>
                    <a:pt x="8739" y="4251"/>
                    <a:pt x="7966" y="4847"/>
                    <a:pt x="7263" y="5561"/>
                  </a:cubicBezTo>
                  <a:cubicBezTo>
                    <a:pt x="7120" y="5716"/>
                    <a:pt x="6977" y="5847"/>
                    <a:pt x="6846" y="6002"/>
                  </a:cubicBezTo>
                  <a:cubicBezTo>
                    <a:pt x="6882" y="5168"/>
                    <a:pt x="6918" y="4704"/>
                    <a:pt x="7573" y="4049"/>
                  </a:cubicBezTo>
                  <a:cubicBezTo>
                    <a:pt x="8085" y="3537"/>
                    <a:pt x="8728" y="3156"/>
                    <a:pt x="9454" y="2906"/>
                  </a:cubicBezTo>
                  <a:cubicBezTo>
                    <a:pt x="9537" y="2870"/>
                    <a:pt x="9585" y="2787"/>
                    <a:pt x="9561" y="2692"/>
                  </a:cubicBezTo>
                  <a:cubicBezTo>
                    <a:pt x="9531" y="2623"/>
                    <a:pt x="9470" y="2578"/>
                    <a:pt x="9395" y="2578"/>
                  </a:cubicBezTo>
                  <a:cubicBezTo>
                    <a:pt x="9379" y="2578"/>
                    <a:pt x="9363" y="2580"/>
                    <a:pt x="9347" y="2584"/>
                  </a:cubicBezTo>
                  <a:cubicBezTo>
                    <a:pt x="9228" y="2632"/>
                    <a:pt x="9109" y="2680"/>
                    <a:pt x="9001" y="2715"/>
                  </a:cubicBezTo>
                  <a:lnTo>
                    <a:pt x="9001" y="1334"/>
                  </a:lnTo>
                  <a:cubicBezTo>
                    <a:pt x="9001" y="596"/>
                    <a:pt x="8406" y="1"/>
                    <a:pt x="766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6"/>
            <p:cNvSpPr/>
            <p:nvPr/>
          </p:nvSpPr>
          <p:spPr>
            <a:xfrm>
              <a:off x="3618450" y="3879112"/>
              <a:ext cx="157045" cy="24688"/>
            </a:xfrm>
            <a:custGeom>
              <a:avLst/>
              <a:gdLst/>
              <a:ahLst/>
              <a:cxnLst/>
              <a:rect l="l" t="t" r="r" b="b"/>
              <a:pathLst>
                <a:path w="4930" h="775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55" y="334"/>
                  </a:cubicBezTo>
                  <a:cubicBezTo>
                    <a:pt x="322" y="334"/>
                    <a:pt x="381" y="405"/>
                    <a:pt x="500" y="512"/>
                  </a:cubicBezTo>
                  <a:cubicBezTo>
                    <a:pt x="619" y="631"/>
                    <a:pt x="786" y="774"/>
                    <a:pt x="1084" y="774"/>
                  </a:cubicBezTo>
                  <a:cubicBezTo>
                    <a:pt x="1381" y="774"/>
                    <a:pt x="1524" y="631"/>
                    <a:pt x="1667" y="512"/>
                  </a:cubicBezTo>
                  <a:cubicBezTo>
                    <a:pt x="1762" y="405"/>
                    <a:pt x="1846" y="334"/>
                    <a:pt x="2000" y="334"/>
                  </a:cubicBezTo>
                  <a:cubicBezTo>
                    <a:pt x="2167" y="334"/>
                    <a:pt x="2227" y="405"/>
                    <a:pt x="2346" y="512"/>
                  </a:cubicBezTo>
                  <a:cubicBezTo>
                    <a:pt x="2465" y="631"/>
                    <a:pt x="2631" y="774"/>
                    <a:pt x="2929" y="774"/>
                  </a:cubicBezTo>
                  <a:cubicBezTo>
                    <a:pt x="3227" y="774"/>
                    <a:pt x="3370" y="631"/>
                    <a:pt x="3501" y="512"/>
                  </a:cubicBezTo>
                  <a:cubicBezTo>
                    <a:pt x="3608" y="405"/>
                    <a:pt x="3679" y="334"/>
                    <a:pt x="3846" y="334"/>
                  </a:cubicBezTo>
                  <a:cubicBezTo>
                    <a:pt x="4013" y="334"/>
                    <a:pt x="4072" y="405"/>
                    <a:pt x="4191" y="512"/>
                  </a:cubicBezTo>
                  <a:cubicBezTo>
                    <a:pt x="4310" y="631"/>
                    <a:pt x="4477" y="774"/>
                    <a:pt x="4775" y="774"/>
                  </a:cubicBezTo>
                  <a:cubicBezTo>
                    <a:pt x="4858" y="774"/>
                    <a:pt x="4929" y="703"/>
                    <a:pt x="4929" y="607"/>
                  </a:cubicBezTo>
                  <a:cubicBezTo>
                    <a:pt x="4929" y="524"/>
                    <a:pt x="4858" y="453"/>
                    <a:pt x="4775" y="453"/>
                  </a:cubicBezTo>
                  <a:cubicBezTo>
                    <a:pt x="4608" y="453"/>
                    <a:pt x="4548" y="369"/>
                    <a:pt x="4429" y="274"/>
                  </a:cubicBezTo>
                  <a:cubicBezTo>
                    <a:pt x="4310" y="155"/>
                    <a:pt x="4144" y="0"/>
                    <a:pt x="3846" y="0"/>
                  </a:cubicBezTo>
                  <a:cubicBezTo>
                    <a:pt x="3548" y="0"/>
                    <a:pt x="3405" y="155"/>
                    <a:pt x="3263" y="274"/>
                  </a:cubicBezTo>
                  <a:cubicBezTo>
                    <a:pt x="3167" y="369"/>
                    <a:pt x="3084" y="453"/>
                    <a:pt x="2929" y="453"/>
                  </a:cubicBezTo>
                  <a:cubicBezTo>
                    <a:pt x="2762" y="453"/>
                    <a:pt x="2703" y="369"/>
                    <a:pt x="2584" y="274"/>
                  </a:cubicBezTo>
                  <a:cubicBezTo>
                    <a:pt x="2465" y="155"/>
                    <a:pt x="2298" y="0"/>
                    <a:pt x="2000" y="0"/>
                  </a:cubicBezTo>
                  <a:cubicBezTo>
                    <a:pt x="1703" y="0"/>
                    <a:pt x="1560" y="155"/>
                    <a:pt x="1417" y="274"/>
                  </a:cubicBezTo>
                  <a:cubicBezTo>
                    <a:pt x="1322" y="369"/>
                    <a:pt x="1238" y="453"/>
                    <a:pt x="1084" y="453"/>
                  </a:cubicBezTo>
                  <a:cubicBezTo>
                    <a:pt x="917" y="453"/>
                    <a:pt x="857" y="369"/>
                    <a:pt x="738" y="274"/>
                  </a:cubicBezTo>
                  <a:cubicBezTo>
                    <a:pt x="619" y="155"/>
                    <a:pt x="453" y="0"/>
                    <a:pt x="15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6"/>
            <p:cNvSpPr/>
            <p:nvPr/>
          </p:nvSpPr>
          <p:spPr>
            <a:xfrm>
              <a:off x="3618450" y="3921192"/>
              <a:ext cx="127834" cy="24688"/>
            </a:xfrm>
            <a:custGeom>
              <a:avLst/>
              <a:gdLst/>
              <a:ahLst/>
              <a:cxnLst/>
              <a:rect l="l" t="t" r="r" b="b"/>
              <a:pathLst>
                <a:path w="4013" h="775" extrusionOk="0">
                  <a:moveTo>
                    <a:pt x="155" y="1"/>
                  </a:moveTo>
                  <a:cubicBezTo>
                    <a:pt x="72" y="1"/>
                    <a:pt x="0" y="84"/>
                    <a:pt x="0" y="167"/>
                  </a:cubicBezTo>
                  <a:cubicBezTo>
                    <a:pt x="0" y="263"/>
                    <a:pt x="72" y="334"/>
                    <a:pt x="155" y="334"/>
                  </a:cubicBezTo>
                  <a:cubicBezTo>
                    <a:pt x="322" y="334"/>
                    <a:pt x="381" y="406"/>
                    <a:pt x="500" y="513"/>
                  </a:cubicBezTo>
                  <a:cubicBezTo>
                    <a:pt x="619" y="632"/>
                    <a:pt x="786" y="775"/>
                    <a:pt x="1084" y="775"/>
                  </a:cubicBezTo>
                  <a:cubicBezTo>
                    <a:pt x="1381" y="775"/>
                    <a:pt x="1524" y="632"/>
                    <a:pt x="1667" y="513"/>
                  </a:cubicBezTo>
                  <a:cubicBezTo>
                    <a:pt x="1762" y="406"/>
                    <a:pt x="1846" y="334"/>
                    <a:pt x="2000" y="334"/>
                  </a:cubicBezTo>
                  <a:cubicBezTo>
                    <a:pt x="2167" y="334"/>
                    <a:pt x="2227" y="406"/>
                    <a:pt x="2346" y="513"/>
                  </a:cubicBezTo>
                  <a:cubicBezTo>
                    <a:pt x="2465" y="632"/>
                    <a:pt x="2631" y="775"/>
                    <a:pt x="2929" y="775"/>
                  </a:cubicBezTo>
                  <a:cubicBezTo>
                    <a:pt x="3227" y="775"/>
                    <a:pt x="3370" y="632"/>
                    <a:pt x="3501" y="513"/>
                  </a:cubicBezTo>
                  <a:cubicBezTo>
                    <a:pt x="3608" y="406"/>
                    <a:pt x="3679" y="334"/>
                    <a:pt x="3846" y="334"/>
                  </a:cubicBezTo>
                  <a:cubicBezTo>
                    <a:pt x="3941" y="334"/>
                    <a:pt x="4013" y="263"/>
                    <a:pt x="4013" y="167"/>
                  </a:cubicBezTo>
                  <a:cubicBezTo>
                    <a:pt x="4013" y="84"/>
                    <a:pt x="3941" y="1"/>
                    <a:pt x="3846" y="1"/>
                  </a:cubicBezTo>
                  <a:cubicBezTo>
                    <a:pt x="3548" y="1"/>
                    <a:pt x="3405" y="156"/>
                    <a:pt x="3263" y="275"/>
                  </a:cubicBezTo>
                  <a:cubicBezTo>
                    <a:pt x="3167" y="382"/>
                    <a:pt x="3084" y="453"/>
                    <a:pt x="2929" y="453"/>
                  </a:cubicBezTo>
                  <a:cubicBezTo>
                    <a:pt x="2762" y="453"/>
                    <a:pt x="2703" y="382"/>
                    <a:pt x="2584" y="275"/>
                  </a:cubicBezTo>
                  <a:cubicBezTo>
                    <a:pt x="2465" y="156"/>
                    <a:pt x="2298" y="1"/>
                    <a:pt x="2000" y="1"/>
                  </a:cubicBezTo>
                  <a:cubicBezTo>
                    <a:pt x="1703" y="1"/>
                    <a:pt x="1560" y="156"/>
                    <a:pt x="1417" y="275"/>
                  </a:cubicBezTo>
                  <a:cubicBezTo>
                    <a:pt x="1322" y="382"/>
                    <a:pt x="1238" y="453"/>
                    <a:pt x="1084" y="453"/>
                  </a:cubicBezTo>
                  <a:cubicBezTo>
                    <a:pt x="917" y="453"/>
                    <a:pt x="857" y="382"/>
                    <a:pt x="738" y="275"/>
                  </a:cubicBezTo>
                  <a:cubicBezTo>
                    <a:pt x="619" y="156"/>
                    <a:pt x="453" y="1"/>
                    <a:pt x="15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6"/>
            <p:cNvSpPr/>
            <p:nvPr/>
          </p:nvSpPr>
          <p:spPr>
            <a:xfrm>
              <a:off x="3617304" y="3962922"/>
              <a:ext cx="98655" cy="24688"/>
            </a:xfrm>
            <a:custGeom>
              <a:avLst/>
              <a:gdLst/>
              <a:ahLst/>
              <a:cxnLst/>
              <a:rect l="l" t="t" r="r" b="b"/>
              <a:pathLst>
                <a:path w="3097" h="775" extrusionOk="0">
                  <a:moveTo>
                    <a:pt x="167" y="0"/>
                  </a:moveTo>
                  <a:cubicBezTo>
                    <a:pt x="72" y="0"/>
                    <a:pt x="0" y="84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334" y="334"/>
                    <a:pt x="393" y="405"/>
                    <a:pt x="512" y="512"/>
                  </a:cubicBezTo>
                  <a:cubicBezTo>
                    <a:pt x="632" y="632"/>
                    <a:pt x="786" y="774"/>
                    <a:pt x="1084" y="774"/>
                  </a:cubicBezTo>
                  <a:cubicBezTo>
                    <a:pt x="1382" y="774"/>
                    <a:pt x="1536" y="632"/>
                    <a:pt x="1667" y="512"/>
                  </a:cubicBezTo>
                  <a:cubicBezTo>
                    <a:pt x="1775" y="405"/>
                    <a:pt x="1846" y="334"/>
                    <a:pt x="2013" y="334"/>
                  </a:cubicBezTo>
                  <a:cubicBezTo>
                    <a:pt x="2179" y="334"/>
                    <a:pt x="2239" y="405"/>
                    <a:pt x="2358" y="512"/>
                  </a:cubicBezTo>
                  <a:cubicBezTo>
                    <a:pt x="2477" y="632"/>
                    <a:pt x="2632" y="774"/>
                    <a:pt x="2929" y="774"/>
                  </a:cubicBezTo>
                  <a:cubicBezTo>
                    <a:pt x="3025" y="774"/>
                    <a:pt x="3096" y="703"/>
                    <a:pt x="3096" y="620"/>
                  </a:cubicBezTo>
                  <a:cubicBezTo>
                    <a:pt x="3096" y="524"/>
                    <a:pt x="3025" y="453"/>
                    <a:pt x="2929" y="453"/>
                  </a:cubicBezTo>
                  <a:cubicBezTo>
                    <a:pt x="2775" y="441"/>
                    <a:pt x="2691" y="381"/>
                    <a:pt x="2596" y="274"/>
                  </a:cubicBezTo>
                  <a:cubicBezTo>
                    <a:pt x="2477" y="155"/>
                    <a:pt x="2310" y="0"/>
                    <a:pt x="2013" y="0"/>
                  </a:cubicBezTo>
                  <a:cubicBezTo>
                    <a:pt x="1715" y="0"/>
                    <a:pt x="1560" y="155"/>
                    <a:pt x="1429" y="274"/>
                  </a:cubicBezTo>
                  <a:cubicBezTo>
                    <a:pt x="1322" y="381"/>
                    <a:pt x="1251" y="453"/>
                    <a:pt x="1084" y="453"/>
                  </a:cubicBezTo>
                  <a:cubicBezTo>
                    <a:pt x="929" y="453"/>
                    <a:pt x="870" y="381"/>
                    <a:pt x="751" y="274"/>
                  </a:cubicBezTo>
                  <a:cubicBezTo>
                    <a:pt x="632" y="155"/>
                    <a:pt x="465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9" name="Google Shape;619;p26"/>
          <p:cNvGrpSpPr/>
          <p:nvPr/>
        </p:nvGrpSpPr>
        <p:grpSpPr>
          <a:xfrm>
            <a:off x="4816708" y="2160592"/>
            <a:ext cx="372073" cy="355244"/>
            <a:chOff x="7390435" y="3680868"/>
            <a:chExt cx="372073" cy="355244"/>
          </a:xfrm>
        </p:grpSpPr>
        <p:sp>
          <p:nvSpPr>
            <p:cNvPr id="620" name="Google Shape;620;p26"/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6" name="Google Shape;626;p26"/>
          <p:cNvGrpSpPr/>
          <p:nvPr/>
        </p:nvGrpSpPr>
        <p:grpSpPr>
          <a:xfrm>
            <a:off x="7003847" y="2157785"/>
            <a:ext cx="345265" cy="349848"/>
            <a:chOff x="3979435" y="1976585"/>
            <a:chExt cx="345265" cy="349848"/>
          </a:xfrm>
        </p:grpSpPr>
        <p:sp>
          <p:nvSpPr>
            <p:cNvPr id="627" name="Google Shape;627;p26"/>
            <p:cNvSpPr/>
            <p:nvPr/>
          </p:nvSpPr>
          <p:spPr>
            <a:xfrm>
              <a:off x="3979435" y="1976585"/>
              <a:ext cx="345265" cy="349848"/>
            </a:xfrm>
            <a:custGeom>
              <a:avLst/>
              <a:gdLst/>
              <a:ahLst/>
              <a:cxnLst/>
              <a:rect l="l" t="t" r="r" b="b"/>
              <a:pathLst>
                <a:path w="10848" h="10992" extrusionOk="0">
                  <a:moveTo>
                    <a:pt x="6632" y="322"/>
                  </a:moveTo>
                  <a:cubicBezTo>
                    <a:pt x="6859" y="322"/>
                    <a:pt x="7013" y="501"/>
                    <a:pt x="7013" y="715"/>
                  </a:cubicBezTo>
                  <a:cubicBezTo>
                    <a:pt x="7013" y="929"/>
                    <a:pt x="6835" y="1096"/>
                    <a:pt x="6632" y="1096"/>
                  </a:cubicBezTo>
                  <a:lnTo>
                    <a:pt x="4906" y="1096"/>
                  </a:lnTo>
                  <a:cubicBezTo>
                    <a:pt x="4680" y="1096"/>
                    <a:pt x="4513" y="918"/>
                    <a:pt x="4513" y="715"/>
                  </a:cubicBezTo>
                  <a:cubicBezTo>
                    <a:pt x="4513" y="489"/>
                    <a:pt x="4692" y="322"/>
                    <a:pt x="4906" y="322"/>
                  </a:cubicBezTo>
                  <a:close/>
                  <a:moveTo>
                    <a:pt x="5966" y="1429"/>
                  </a:moveTo>
                  <a:lnTo>
                    <a:pt x="5966" y="1965"/>
                  </a:lnTo>
                  <a:lnTo>
                    <a:pt x="5561" y="1965"/>
                  </a:lnTo>
                  <a:lnTo>
                    <a:pt x="5561" y="1429"/>
                  </a:lnTo>
                  <a:close/>
                  <a:moveTo>
                    <a:pt x="5775" y="2289"/>
                  </a:moveTo>
                  <a:cubicBezTo>
                    <a:pt x="6988" y="2289"/>
                    <a:pt x="8193" y="2825"/>
                    <a:pt x="9026" y="3835"/>
                  </a:cubicBezTo>
                  <a:cubicBezTo>
                    <a:pt x="10466" y="5620"/>
                    <a:pt x="10204" y="8276"/>
                    <a:pt x="8407" y="9728"/>
                  </a:cubicBezTo>
                  <a:cubicBezTo>
                    <a:pt x="7623" y="10362"/>
                    <a:pt x="6686" y="10670"/>
                    <a:pt x="5757" y="10670"/>
                  </a:cubicBezTo>
                  <a:cubicBezTo>
                    <a:pt x="4540" y="10670"/>
                    <a:pt x="3337" y="10141"/>
                    <a:pt x="2513" y="9121"/>
                  </a:cubicBezTo>
                  <a:cubicBezTo>
                    <a:pt x="429" y="6561"/>
                    <a:pt x="2001" y="2715"/>
                    <a:pt x="5251" y="2322"/>
                  </a:cubicBezTo>
                  <a:cubicBezTo>
                    <a:pt x="5425" y="2300"/>
                    <a:pt x="5601" y="2289"/>
                    <a:pt x="5775" y="2289"/>
                  </a:cubicBezTo>
                  <a:close/>
                  <a:moveTo>
                    <a:pt x="4906" y="1"/>
                  </a:moveTo>
                  <a:cubicBezTo>
                    <a:pt x="4501" y="1"/>
                    <a:pt x="4192" y="322"/>
                    <a:pt x="4192" y="715"/>
                  </a:cubicBezTo>
                  <a:cubicBezTo>
                    <a:pt x="4192" y="1108"/>
                    <a:pt x="4513" y="1429"/>
                    <a:pt x="4906" y="1429"/>
                  </a:cubicBezTo>
                  <a:lnTo>
                    <a:pt x="5239" y="1429"/>
                  </a:lnTo>
                  <a:lnTo>
                    <a:pt x="5239" y="1989"/>
                  </a:lnTo>
                  <a:cubicBezTo>
                    <a:pt x="1727" y="2394"/>
                    <a:pt x="1" y="6561"/>
                    <a:pt x="2263" y="9323"/>
                  </a:cubicBezTo>
                  <a:cubicBezTo>
                    <a:pt x="3160" y="10423"/>
                    <a:pt x="4463" y="10991"/>
                    <a:pt x="5774" y="10991"/>
                  </a:cubicBezTo>
                  <a:cubicBezTo>
                    <a:pt x="6777" y="10991"/>
                    <a:pt x="7785" y="10659"/>
                    <a:pt x="8621" y="9978"/>
                  </a:cubicBezTo>
                  <a:cubicBezTo>
                    <a:pt x="10550" y="8407"/>
                    <a:pt x="10847" y="5549"/>
                    <a:pt x="9264" y="3632"/>
                  </a:cubicBezTo>
                  <a:cubicBezTo>
                    <a:pt x="8490" y="2680"/>
                    <a:pt x="7406" y="2120"/>
                    <a:pt x="6287" y="1989"/>
                  </a:cubicBezTo>
                  <a:lnTo>
                    <a:pt x="6287" y="1429"/>
                  </a:lnTo>
                  <a:lnTo>
                    <a:pt x="6632" y="1429"/>
                  </a:lnTo>
                  <a:cubicBezTo>
                    <a:pt x="7037" y="1429"/>
                    <a:pt x="7347" y="1096"/>
                    <a:pt x="7347" y="715"/>
                  </a:cubicBezTo>
                  <a:cubicBezTo>
                    <a:pt x="7347" y="310"/>
                    <a:pt x="7013" y="1"/>
                    <a:pt x="663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6"/>
            <p:cNvSpPr/>
            <p:nvPr/>
          </p:nvSpPr>
          <p:spPr>
            <a:xfrm>
              <a:off x="4044236" y="2176685"/>
              <a:ext cx="144783" cy="123077"/>
            </a:xfrm>
            <a:custGeom>
              <a:avLst/>
              <a:gdLst/>
              <a:ahLst/>
              <a:cxnLst/>
              <a:rect l="l" t="t" r="r" b="b"/>
              <a:pathLst>
                <a:path w="4549" h="3867" extrusionOk="0">
                  <a:moveTo>
                    <a:pt x="203" y="0"/>
                  </a:moveTo>
                  <a:cubicBezTo>
                    <a:pt x="108" y="0"/>
                    <a:pt x="36" y="84"/>
                    <a:pt x="36" y="167"/>
                  </a:cubicBezTo>
                  <a:cubicBezTo>
                    <a:pt x="36" y="215"/>
                    <a:pt x="1" y="977"/>
                    <a:pt x="405" y="1822"/>
                  </a:cubicBezTo>
                  <a:cubicBezTo>
                    <a:pt x="667" y="2346"/>
                    <a:pt x="1048" y="2798"/>
                    <a:pt x="1525" y="3143"/>
                  </a:cubicBezTo>
                  <a:cubicBezTo>
                    <a:pt x="2186" y="3633"/>
                    <a:pt x="2944" y="3867"/>
                    <a:pt x="3694" y="3867"/>
                  </a:cubicBezTo>
                  <a:cubicBezTo>
                    <a:pt x="3929" y="3867"/>
                    <a:pt x="4164" y="3844"/>
                    <a:pt x="4394" y="3798"/>
                  </a:cubicBezTo>
                  <a:cubicBezTo>
                    <a:pt x="4489" y="3786"/>
                    <a:pt x="4549" y="3691"/>
                    <a:pt x="4537" y="3608"/>
                  </a:cubicBezTo>
                  <a:cubicBezTo>
                    <a:pt x="4526" y="3543"/>
                    <a:pt x="4446" y="3487"/>
                    <a:pt x="4368" y="3487"/>
                  </a:cubicBezTo>
                  <a:cubicBezTo>
                    <a:pt x="4361" y="3487"/>
                    <a:pt x="4354" y="3488"/>
                    <a:pt x="4346" y="3489"/>
                  </a:cubicBezTo>
                  <a:cubicBezTo>
                    <a:pt x="4139" y="3526"/>
                    <a:pt x="3932" y="3545"/>
                    <a:pt x="3725" y="3545"/>
                  </a:cubicBezTo>
                  <a:cubicBezTo>
                    <a:pt x="3018" y="3545"/>
                    <a:pt x="2326" y="3324"/>
                    <a:pt x="1727" y="2882"/>
                  </a:cubicBezTo>
                  <a:cubicBezTo>
                    <a:pt x="275" y="1810"/>
                    <a:pt x="370" y="167"/>
                    <a:pt x="370" y="167"/>
                  </a:cubicBezTo>
                  <a:cubicBezTo>
                    <a:pt x="370" y="84"/>
                    <a:pt x="298" y="0"/>
                    <a:pt x="20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6"/>
            <p:cNvSpPr/>
            <p:nvPr/>
          </p:nvSpPr>
          <p:spPr>
            <a:xfrm>
              <a:off x="4046910" y="2065957"/>
              <a:ext cx="204269" cy="100893"/>
            </a:xfrm>
            <a:custGeom>
              <a:avLst/>
              <a:gdLst/>
              <a:ahLst/>
              <a:cxnLst/>
              <a:rect l="l" t="t" r="r" b="b"/>
              <a:pathLst>
                <a:path w="6418" h="3170" extrusionOk="0">
                  <a:moveTo>
                    <a:pt x="3655" y="1"/>
                  </a:moveTo>
                  <a:cubicBezTo>
                    <a:pt x="1971" y="1"/>
                    <a:pt x="367" y="1170"/>
                    <a:pt x="12" y="3003"/>
                  </a:cubicBezTo>
                  <a:cubicBezTo>
                    <a:pt x="0" y="3086"/>
                    <a:pt x="71" y="3170"/>
                    <a:pt x="179" y="3170"/>
                  </a:cubicBezTo>
                  <a:cubicBezTo>
                    <a:pt x="250" y="3170"/>
                    <a:pt x="333" y="3110"/>
                    <a:pt x="345" y="3039"/>
                  </a:cubicBezTo>
                  <a:cubicBezTo>
                    <a:pt x="667" y="1358"/>
                    <a:pt x="2122" y="299"/>
                    <a:pt x="3652" y="299"/>
                  </a:cubicBezTo>
                  <a:cubicBezTo>
                    <a:pt x="4332" y="299"/>
                    <a:pt x="5027" y="509"/>
                    <a:pt x="5644" y="967"/>
                  </a:cubicBezTo>
                  <a:cubicBezTo>
                    <a:pt x="5822" y="1098"/>
                    <a:pt x="5965" y="1241"/>
                    <a:pt x="6120" y="1396"/>
                  </a:cubicBezTo>
                  <a:cubicBezTo>
                    <a:pt x="6155" y="1431"/>
                    <a:pt x="6208" y="1454"/>
                    <a:pt x="6257" y="1454"/>
                  </a:cubicBezTo>
                  <a:cubicBezTo>
                    <a:pt x="6290" y="1454"/>
                    <a:pt x="6322" y="1443"/>
                    <a:pt x="6346" y="1419"/>
                  </a:cubicBezTo>
                  <a:cubicBezTo>
                    <a:pt x="6406" y="1360"/>
                    <a:pt x="6417" y="1253"/>
                    <a:pt x="6358" y="1193"/>
                  </a:cubicBezTo>
                  <a:cubicBezTo>
                    <a:pt x="6191" y="1027"/>
                    <a:pt x="6025" y="860"/>
                    <a:pt x="5834" y="729"/>
                  </a:cubicBezTo>
                  <a:cubicBezTo>
                    <a:pt x="5159" y="229"/>
                    <a:pt x="4399" y="1"/>
                    <a:pt x="365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4195735" y="2118027"/>
              <a:ext cx="84247" cy="174224"/>
            </a:xfrm>
            <a:custGeom>
              <a:avLst/>
              <a:gdLst/>
              <a:ahLst/>
              <a:cxnLst/>
              <a:rect l="l" t="t" r="r" b="b"/>
              <a:pathLst>
                <a:path w="2647" h="5474" extrusionOk="0">
                  <a:moveTo>
                    <a:pt x="1952" y="0"/>
                  </a:moveTo>
                  <a:cubicBezTo>
                    <a:pt x="1920" y="0"/>
                    <a:pt x="1888" y="11"/>
                    <a:pt x="1861" y="33"/>
                  </a:cubicBezTo>
                  <a:cubicBezTo>
                    <a:pt x="1789" y="81"/>
                    <a:pt x="1753" y="176"/>
                    <a:pt x="1813" y="260"/>
                  </a:cubicBezTo>
                  <a:cubicBezTo>
                    <a:pt x="2158" y="795"/>
                    <a:pt x="2325" y="1403"/>
                    <a:pt x="2325" y="2046"/>
                  </a:cubicBezTo>
                  <a:cubicBezTo>
                    <a:pt x="2325" y="3451"/>
                    <a:pt x="1432" y="4689"/>
                    <a:pt x="182" y="5165"/>
                  </a:cubicBezTo>
                  <a:cubicBezTo>
                    <a:pt x="1" y="5229"/>
                    <a:pt x="67" y="5474"/>
                    <a:pt x="237" y="5474"/>
                  </a:cubicBezTo>
                  <a:cubicBezTo>
                    <a:pt x="257" y="5474"/>
                    <a:pt x="278" y="5470"/>
                    <a:pt x="301" y="5463"/>
                  </a:cubicBezTo>
                  <a:cubicBezTo>
                    <a:pt x="1682" y="4927"/>
                    <a:pt x="2646" y="3593"/>
                    <a:pt x="2646" y="2022"/>
                  </a:cubicBezTo>
                  <a:cubicBezTo>
                    <a:pt x="2646" y="1343"/>
                    <a:pt x="2456" y="653"/>
                    <a:pt x="2087" y="81"/>
                  </a:cubicBezTo>
                  <a:cubicBezTo>
                    <a:pt x="2057" y="29"/>
                    <a:pt x="2004" y="0"/>
                    <a:pt x="195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4109037" y="2161153"/>
              <a:ext cx="81510" cy="55348"/>
            </a:xfrm>
            <a:custGeom>
              <a:avLst/>
              <a:gdLst/>
              <a:ahLst/>
              <a:cxnLst/>
              <a:rect l="l" t="t" r="r" b="b"/>
              <a:pathLst>
                <a:path w="2561" h="1739" extrusionOk="0">
                  <a:moveTo>
                    <a:pt x="1691" y="333"/>
                  </a:moveTo>
                  <a:cubicBezTo>
                    <a:pt x="1965" y="333"/>
                    <a:pt x="2144" y="655"/>
                    <a:pt x="1965" y="881"/>
                  </a:cubicBezTo>
                  <a:cubicBezTo>
                    <a:pt x="1900" y="968"/>
                    <a:pt x="1790" y="1020"/>
                    <a:pt x="1682" y="1020"/>
                  </a:cubicBezTo>
                  <a:cubicBezTo>
                    <a:pt x="1613" y="1020"/>
                    <a:pt x="1545" y="999"/>
                    <a:pt x="1489" y="953"/>
                  </a:cubicBezTo>
                  <a:cubicBezTo>
                    <a:pt x="1215" y="762"/>
                    <a:pt x="1370" y="333"/>
                    <a:pt x="1691" y="333"/>
                  </a:cubicBezTo>
                  <a:close/>
                  <a:moveTo>
                    <a:pt x="1691" y="0"/>
                  </a:moveTo>
                  <a:cubicBezTo>
                    <a:pt x="1584" y="0"/>
                    <a:pt x="1334" y="36"/>
                    <a:pt x="1156" y="274"/>
                  </a:cubicBezTo>
                  <a:cubicBezTo>
                    <a:pt x="1025" y="453"/>
                    <a:pt x="989" y="655"/>
                    <a:pt x="1048" y="845"/>
                  </a:cubicBezTo>
                  <a:lnTo>
                    <a:pt x="132" y="1441"/>
                  </a:lnTo>
                  <a:cubicBezTo>
                    <a:pt x="1" y="1536"/>
                    <a:pt x="60" y="1738"/>
                    <a:pt x="215" y="1738"/>
                  </a:cubicBezTo>
                  <a:cubicBezTo>
                    <a:pt x="310" y="1738"/>
                    <a:pt x="263" y="1726"/>
                    <a:pt x="1215" y="1131"/>
                  </a:cubicBezTo>
                  <a:cubicBezTo>
                    <a:pt x="1347" y="1275"/>
                    <a:pt x="1521" y="1344"/>
                    <a:pt x="1693" y="1344"/>
                  </a:cubicBezTo>
                  <a:cubicBezTo>
                    <a:pt x="1893" y="1344"/>
                    <a:pt x="2093" y="1251"/>
                    <a:pt x="2227" y="1072"/>
                  </a:cubicBezTo>
                  <a:cubicBezTo>
                    <a:pt x="2560" y="631"/>
                    <a:pt x="2251" y="0"/>
                    <a:pt x="169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4157160" y="2083080"/>
              <a:ext cx="10662" cy="29218"/>
            </a:xfrm>
            <a:custGeom>
              <a:avLst/>
              <a:gdLst/>
              <a:ahLst/>
              <a:cxnLst/>
              <a:rect l="l" t="t" r="r" b="b"/>
              <a:pathLst>
                <a:path w="335" h="918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762"/>
                  </a:lnTo>
                  <a:cubicBezTo>
                    <a:pt x="1" y="846"/>
                    <a:pt x="72" y="917"/>
                    <a:pt x="167" y="917"/>
                  </a:cubicBezTo>
                  <a:cubicBezTo>
                    <a:pt x="275" y="917"/>
                    <a:pt x="334" y="846"/>
                    <a:pt x="334" y="762"/>
                  </a:cubicBezTo>
                  <a:lnTo>
                    <a:pt x="334" y="167"/>
                  </a:lnTo>
                  <a:cubicBezTo>
                    <a:pt x="334" y="72"/>
                    <a:pt x="263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4109419" y="2096034"/>
              <a:ext cx="21261" cy="26862"/>
            </a:xfrm>
            <a:custGeom>
              <a:avLst/>
              <a:gdLst/>
              <a:ahLst/>
              <a:cxnLst/>
              <a:rect l="l" t="t" r="r" b="b"/>
              <a:pathLst>
                <a:path w="668" h="844" extrusionOk="0">
                  <a:moveTo>
                    <a:pt x="183" y="0"/>
                  </a:moveTo>
                  <a:cubicBezTo>
                    <a:pt x="156" y="0"/>
                    <a:pt x="130" y="7"/>
                    <a:pt x="108" y="22"/>
                  </a:cubicBezTo>
                  <a:cubicBezTo>
                    <a:pt x="36" y="70"/>
                    <a:pt x="1" y="177"/>
                    <a:pt x="48" y="248"/>
                  </a:cubicBezTo>
                  <a:lnTo>
                    <a:pt x="346" y="772"/>
                  </a:lnTo>
                  <a:cubicBezTo>
                    <a:pt x="393" y="808"/>
                    <a:pt x="429" y="844"/>
                    <a:pt x="489" y="844"/>
                  </a:cubicBezTo>
                  <a:cubicBezTo>
                    <a:pt x="524" y="844"/>
                    <a:pt x="548" y="844"/>
                    <a:pt x="572" y="832"/>
                  </a:cubicBezTo>
                  <a:cubicBezTo>
                    <a:pt x="643" y="784"/>
                    <a:pt x="667" y="677"/>
                    <a:pt x="632" y="605"/>
                  </a:cubicBezTo>
                  <a:lnTo>
                    <a:pt x="334" y="82"/>
                  </a:lnTo>
                  <a:cubicBezTo>
                    <a:pt x="301" y="33"/>
                    <a:pt x="241" y="0"/>
                    <a:pt x="18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4074950" y="2130121"/>
              <a:ext cx="28454" cy="19669"/>
            </a:xfrm>
            <a:custGeom>
              <a:avLst/>
              <a:gdLst/>
              <a:ahLst/>
              <a:cxnLst/>
              <a:rect l="l" t="t" r="r" b="b"/>
              <a:pathLst>
                <a:path w="894" h="618" extrusionOk="0">
                  <a:moveTo>
                    <a:pt x="188" y="1"/>
                  </a:moveTo>
                  <a:cubicBezTo>
                    <a:pt x="130" y="1"/>
                    <a:pt x="72" y="33"/>
                    <a:pt x="48" y="82"/>
                  </a:cubicBezTo>
                  <a:cubicBezTo>
                    <a:pt x="0" y="154"/>
                    <a:pt x="24" y="261"/>
                    <a:pt x="107" y="308"/>
                  </a:cubicBezTo>
                  <a:lnTo>
                    <a:pt x="619" y="606"/>
                  </a:lnTo>
                  <a:cubicBezTo>
                    <a:pt x="655" y="618"/>
                    <a:pt x="679" y="618"/>
                    <a:pt x="703" y="618"/>
                  </a:cubicBezTo>
                  <a:cubicBezTo>
                    <a:pt x="762" y="618"/>
                    <a:pt x="798" y="594"/>
                    <a:pt x="834" y="546"/>
                  </a:cubicBezTo>
                  <a:cubicBezTo>
                    <a:pt x="893" y="475"/>
                    <a:pt x="881" y="368"/>
                    <a:pt x="786" y="320"/>
                  </a:cubicBezTo>
                  <a:lnTo>
                    <a:pt x="262" y="23"/>
                  </a:lnTo>
                  <a:cubicBezTo>
                    <a:pt x="240" y="8"/>
                    <a:pt x="214" y="1"/>
                    <a:pt x="18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6"/>
            <p:cNvSpPr/>
            <p:nvPr/>
          </p:nvSpPr>
          <p:spPr>
            <a:xfrm>
              <a:off x="4063555" y="2177067"/>
              <a:ext cx="29218" cy="10630"/>
            </a:xfrm>
            <a:custGeom>
              <a:avLst/>
              <a:gdLst/>
              <a:ahLst/>
              <a:cxnLst/>
              <a:rect l="l" t="t" r="r" b="b"/>
              <a:pathLst>
                <a:path w="918" h="334" extrusionOk="0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lnTo>
                    <a:pt x="763" y="334"/>
                  </a:lnTo>
                  <a:cubicBezTo>
                    <a:pt x="846" y="334"/>
                    <a:pt x="918" y="262"/>
                    <a:pt x="918" y="167"/>
                  </a:cubicBezTo>
                  <a:cubicBezTo>
                    <a:pt x="918" y="83"/>
                    <a:pt x="846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6"/>
            <p:cNvSpPr/>
            <p:nvPr/>
          </p:nvSpPr>
          <p:spPr>
            <a:xfrm>
              <a:off x="4073804" y="2215005"/>
              <a:ext cx="29600" cy="20051"/>
            </a:xfrm>
            <a:custGeom>
              <a:avLst/>
              <a:gdLst/>
              <a:ahLst/>
              <a:cxnLst/>
              <a:rect l="l" t="t" r="r" b="b"/>
              <a:pathLst>
                <a:path w="930" h="630" extrusionOk="0">
                  <a:moveTo>
                    <a:pt x="735" y="1"/>
                  </a:moveTo>
                  <a:cubicBezTo>
                    <a:pt x="709" y="1"/>
                    <a:pt x="681" y="8"/>
                    <a:pt x="655" y="23"/>
                  </a:cubicBezTo>
                  <a:lnTo>
                    <a:pt x="143" y="320"/>
                  </a:lnTo>
                  <a:cubicBezTo>
                    <a:pt x="0" y="404"/>
                    <a:pt x="60" y="630"/>
                    <a:pt x="227" y="630"/>
                  </a:cubicBezTo>
                  <a:cubicBezTo>
                    <a:pt x="298" y="630"/>
                    <a:pt x="298" y="606"/>
                    <a:pt x="822" y="308"/>
                  </a:cubicBezTo>
                  <a:cubicBezTo>
                    <a:pt x="893" y="261"/>
                    <a:pt x="929" y="154"/>
                    <a:pt x="881" y="82"/>
                  </a:cubicBezTo>
                  <a:cubicBezTo>
                    <a:pt x="849" y="33"/>
                    <a:pt x="794" y="1"/>
                    <a:pt x="73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6"/>
            <p:cNvSpPr/>
            <p:nvPr/>
          </p:nvSpPr>
          <p:spPr>
            <a:xfrm>
              <a:off x="4109419" y="2242472"/>
              <a:ext cx="21261" cy="26703"/>
            </a:xfrm>
            <a:custGeom>
              <a:avLst/>
              <a:gdLst/>
              <a:ahLst/>
              <a:cxnLst/>
              <a:rect l="l" t="t" r="r" b="b"/>
              <a:pathLst>
                <a:path w="668" h="839" extrusionOk="0">
                  <a:moveTo>
                    <a:pt x="496" y="0"/>
                  </a:moveTo>
                  <a:cubicBezTo>
                    <a:pt x="441" y="0"/>
                    <a:pt x="391" y="27"/>
                    <a:pt x="358" y="76"/>
                  </a:cubicBezTo>
                  <a:lnTo>
                    <a:pt x="60" y="600"/>
                  </a:lnTo>
                  <a:cubicBezTo>
                    <a:pt x="1" y="707"/>
                    <a:pt x="72" y="838"/>
                    <a:pt x="191" y="838"/>
                  </a:cubicBezTo>
                  <a:cubicBezTo>
                    <a:pt x="251" y="838"/>
                    <a:pt x="298" y="815"/>
                    <a:pt x="334" y="767"/>
                  </a:cubicBezTo>
                  <a:lnTo>
                    <a:pt x="632" y="243"/>
                  </a:lnTo>
                  <a:cubicBezTo>
                    <a:pt x="667" y="172"/>
                    <a:pt x="643" y="64"/>
                    <a:pt x="572" y="17"/>
                  </a:cubicBezTo>
                  <a:cubicBezTo>
                    <a:pt x="546" y="6"/>
                    <a:pt x="520" y="0"/>
                    <a:pt x="49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6"/>
            <p:cNvSpPr/>
            <p:nvPr/>
          </p:nvSpPr>
          <p:spPr>
            <a:xfrm>
              <a:off x="4157924" y="2252466"/>
              <a:ext cx="10248" cy="29600"/>
            </a:xfrm>
            <a:custGeom>
              <a:avLst/>
              <a:gdLst/>
              <a:ahLst/>
              <a:cxnLst/>
              <a:rect l="l" t="t" r="r" b="b"/>
              <a:pathLst>
                <a:path w="322" h="930" extrusionOk="0">
                  <a:moveTo>
                    <a:pt x="155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762"/>
                  </a:lnTo>
                  <a:cubicBezTo>
                    <a:pt x="1" y="858"/>
                    <a:pt x="72" y="929"/>
                    <a:pt x="155" y="929"/>
                  </a:cubicBezTo>
                  <a:cubicBezTo>
                    <a:pt x="251" y="929"/>
                    <a:pt x="322" y="858"/>
                    <a:pt x="322" y="762"/>
                  </a:cubicBezTo>
                  <a:lnTo>
                    <a:pt x="322" y="167"/>
                  </a:lnTo>
                  <a:cubicBezTo>
                    <a:pt x="322" y="84"/>
                    <a:pt x="251" y="0"/>
                    <a:pt x="15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6"/>
            <p:cNvSpPr/>
            <p:nvPr/>
          </p:nvSpPr>
          <p:spPr>
            <a:xfrm>
              <a:off x="4194685" y="2242472"/>
              <a:ext cx="21261" cy="27022"/>
            </a:xfrm>
            <a:custGeom>
              <a:avLst/>
              <a:gdLst/>
              <a:ahLst/>
              <a:cxnLst/>
              <a:rect l="l" t="t" r="r" b="b"/>
              <a:pathLst>
                <a:path w="668" h="849" extrusionOk="0">
                  <a:moveTo>
                    <a:pt x="181" y="0"/>
                  </a:moveTo>
                  <a:cubicBezTo>
                    <a:pt x="155" y="0"/>
                    <a:pt x="130" y="6"/>
                    <a:pt x="108" y="17"/>
                  </a:cubicBezTo>
                  <a:cubicBezTo>
                    <a:pt x="36" y="64"/>
                    <a:pt x="0" y="172"/>
                    <a:pt x="48" y="243"/>
                  </a:cubicBezTo>
                  <a:lnTo>
                    <a:pt x="346" y="767"/>
                  </a:lnTo>
                  <a:cubicBezTo>
                    <a:pt x="378" y="816"/>
                    <a:pt x="428" y="848"/>
                    <a:pt x="487" y="848"/>
                  </a:cubicBezTo>
                  <a:cubicBezTo>
                    <a:pt x="513" y="848"/>
                    <a:pt x="542" y="841"/>
                    <a:pt x="572" y="826"/>
                  </a:cubicBezTo>
                  <a:cubicBezTo>
                    <a:pt x="643" y="779"/>
                    <a:pt x="667" y="672"/>
                    <a:pt x="631" y="600"/>
                  </a:cubicBezTo>
                  <a:lnTo>
                    <a:pt x="334" y="76"/>
                  </a:lnTo>
                  <a:cubicBezTo>
                    <a:pt x="301" y="27"/>
                    <a:pt x="240" y="0"/>
                    <a:pt x="1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6"/>
            <p:cNvSpPr/>
            <p:nvPr/>
          </p:nvSpPr>
          <p:spPr>
            <a:xfrm>
              <a:off x="4222343" y="2215387"/>
              <a:ext cx="27690" cy="19669"/>
            </a:xfrm>
            <a:custGeom>
              <a:avLst/>
              <a:gdLst/>
              <a:ahLst/>
              <a:cxnLst/>
              <a:rect l="l" t="t" r="r" b="b"/>
              <a:pathLst>
                <a:path w="870" h="618" extrusionOk="0">
                  <a:moveTo>
                    <a:pt x="176" y="1"/>
                  </a:moveTo>
                  <a:cubicBezTo>
                    <a:pt x="118" y="1"/>
                    <a:pt x="57" y="33"/>
                    <a:pt x="24" y="82"/>
                  </a:cubicBezTo>
                  <a:cubicBezTo>
                    <a:pt x="1" y="142"/>
                    <a:pt x="13" y="249"/>
                    <a:pt x="96" y="296"/>
                  </a:cubicBezTo>
                  <a:cubicBezTo>
                    <a:pt x="632" y="594"/>
                    <a:pt x="620" y="618"/>
                    <a:pt x="691" y="618"/>
                  </a:cubicBezTo>
                  <a:cubicBezTo>
                    <a:pt x="751" y="618"/>
                    <a:pt x="798" y="594"/>
                    <a:pt x="834" y="546"/>
                  </a:cubicBezTo>
                  <a:cubicBezTo>
                    <a:pt x="870" y="475"/>
                    <a:pt x="846" y="368"/>
                    <a:pt x="775" y="320"/>
                  </a:cubicBezTo>
                  <a:lnTo>
                    <a:pt x="251" y="22"/>
                  </a:lnTo>
                  <a:cubicBezTo>
                    <a:pt x="228" y="8"/>
                    <a:pt x="202" y="1"/>
                    <a:pt x="17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6"/>
            <p:cNvSpPr/>
            <p:nvPr/>
          </p:nvSpPr>
          <p:spPr>
            <a:xfrm>
              <a:off x="4232941" y="2177067"/>
              <a:ext cx="29600" cy="10630"/>
            </a:xfrm>
            <a:custGeom>
              <a:avLst/>
              <a:gdLst/>
              <a:ahLst/>
              <a:cxnLst/>
              <a:rect l="l" t="t" r="r" b="b"/>
              <a:pathLst>
                <a:path w="930" h="334" extrusionOk="0">
                  <a:moveTo>
                    <a:pt x="168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4"/>
                    <a:pt x="168" y="334"/>
                  </a:cubicBezTo>
                  <a:lnTo>
                    <a:pt x="763" y="334"/>
                  </a:lnTo>
                  <a:cubicBezTo>
                    <a:pt x="858" y="334"/>
                    <a:pt x="930" y="262"/>
                    <a:pt x="930" y="167"/>
                  </a:cubicBezTo>
                  <a:cubicBezTo>
                    <a:pt x="930" y="83"/>
                    <a:pt x="858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6"/>
            <p:cNvSpPr/>
            <p:nvPr/>
          </p:nvSpPr>
          <p:spPr>
            <a:xfrm>
              <a:off x="4221579" y="2130694"/>
              <a:ext cx="28454" cy="19478"/>
            </a:xfrm>
            <a:custGeom>
              <a:avLst/>
              <a:gdLst/>
              <a:ahLst/>
              <a:cxnLst/>
              <a:rect l="l" t="t" r="r" b="b"/>
              <a:pathLst>
                <a:path w="894" h="612" extrusionOk="0">
                  <a:moveTo>
                    <a:pt x="706" y="0"/>
                  </a:moveTo>
                  <a:cubicBezTo>
                    <a:pt x="679" y="0"/>
                    <a:pt x="654" y="5"/>
                    <a:pt x="632" y="16"/>
                  </a:cubicBezTo>
                  <a:lnTo>
                    <a:pt x="108" y="314"/>
                  </a:lnTo>
                  <a:cubicBezTo>
                    <a:pt x="37" y="362"/>
                    <a:pt x="1" y="469"/>
                    <a:pt x="48" y="540"/>
                  </a:cubicBezTo>
                  <a:cubicBezTo>
                    <a:pt x="96" y="588"/>
                    <a:pt x="144" y="612"/>
                    <a:pt x="203" y="612"/>
                  </a:cubicBezTo>
                  <a:cubicBezTo>
                    <a:pt x="227" y="612"/>
                    <a:pt x="263" y="612"/>
                    <a:pt x="275" y="600"/>
                  </a:cubicBezTo>
                  <a:lnTo>
                    <a:pt x="799" y="302"/>
                  </a:lnTo>
                  <a:cubicBezTo>
                    <a:pt x="870" y="255"/>
                    <a:pt x="894" y="159"/>
                    <a:pt x="858" y="76"/>
                  </a:cubicBezTo>
                  <a:cubicBezTo>
                    <a:pt x="825" y="27"/>
                    <a:pt x="764" y="0"/>
                    <a:pt x="70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4194685" y="2095652"/>
              <a:ext cx="20879" cy="26862"/>
            </a:xfrm>
            <a:custGeom>
              <a:avLst/>
              <a:gdLst/>
              <a:ahLst/>
              <a:cxnLst/>
              <a:rect l="l" t="t" r="r" b="b"/>
              <a:pathLst>
                <a:path w="656" h="844" extrusionOk="0">
                  <a:moveTo>
                    <a:pt x="479" y="0"/>
                  </a:moveTo>
                  <a:cubicBezTo>
                    <a:pt x="428" y="0"/>
                    <a:pt x="378" y="33"/>
                    <a:pt x="346" y="82"/>
                  </a:cubicBezTo>
                  <a:lnTo>
                    <a:pt x="48" y="606"/>
                  </a:lnTo>
                  <a:cubicBezTo>
                    <a:pt x="0" y="677"/>
                    <a:pt x="36" y="784"/>
                    <a:pt x="108" y="820"/>
                  </a:cubicBezTo>
                  <a:cubicBezTo>
                    <a:pt x="131" y="844"/>
                    <a:pt x="167" y="844"/>
                    <a:pt x="179" y="844"/>
                  </a:cubicBezTo>
                  <a:cubicBezTo>
                    <a:pt x="239" y="844"/>
                    <a:pt x="286" y="808"/>
                    <a:pt x="310" y="760"/>
                  </a:cubicBezTo>
                  <a:lnTo>
                    <a:pt x="608" y="248"/>
                  </a:lnTo>
                  <a:cubicBezTo>
                    <a:pt x="655" y="165"/>
                    <a:pt x="631" y="70"/>
                    <a:pt x="548" y="22"/>
                  </a:cubicBezTo>
                  <a:cubicBezTo>
                    <a:pt x="526" y="7"/>
                    <a:pt x="502" y="0"/>
                    <a:pt x="47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26"/>
          <p:cNvGrpSpPr/>
          <p:nvPr/>
        </p:nvGrpSpPr>
        <p:grpSpPr>
          <a:xfrm>
            <a:off x="230149" y="2141638"/>
            <a:ext cx="325656" cy="382752"/>
            <a:chOff x="4857215" y="2313809"/>
            <a:chExt cx="403921" cy="474740"/>
          </a:xfrm>
        </p:grpSpPr>
        <p:sp>
          <p:nvSpPr>
            <p:cNvPr id="645" name="Google Shape;645;p26"/>
            <p:cNvSpPr/>
            <p:nvPr/>
          </p:nvSpPr>
          <p:spPr>
            <a:xfrm>
              <a:off x="5088054" y="2628784"/>
              <a:ext cx="45206" cy="45174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06" y="437"/>
                  </a:moveTo>
                  <a:cubicBezTo>
                    <a:pt x="855" y="437"/>
                    <a:pt x="977" y="561"/>
                    <a:pt x="977" y="710"/>
                  </a:cubicBezTo>
                  <a:cubicBezTo>
                    <a:pt x="977" y="859"/>
                    <a:pt x="855" y="981"/>
                    <a:pt x="706" y="981"/>
                  </a:cubicBezTo>
                  <a:cubicBezTo>
                    <a:pt x="557" y="981"/>
                    <a:pt x="433" y="859"/>
                    <a:pt x="433" y="710"/>
                  </a:cubicBezTo>
                  <a:cubicBezTo>
                    <a:pt x="433" y="559"/>
                    <a:pt x="557" y="437"/>
                    <a:pt x="706" y="437"/>
                  </a:cubicBezTo>
                  <a:close/>
                  <a:moveTo>
                    <a:pt x="708" y="0"/>
                  </a:moveTo>
                  <a:cubicBezTo>
                    <a:pt x="316" y="0"/>
                    <a:pt x="0" y="318"/>
                    <a:pt x="0" y="710"/>
                  </a:cubicBezTo>
                  <a:cubicBezTo>
                    <a:pt x="0" y="1098"/>
                    <a:pt x="316" y="1418"/>
                    <a:pt x="708" y="1418"/>
                  </a:cubicBezTo>
                  <a:cubicBezTo>
                    <a:pt x="1098" y="1418"/>
                    <a:pt x="1418" y="1102"/>
                    <a:pt x="1418" y="710"/>
                  </a:cubicBezTo>
                  <a:cubicBezTo>
                    <a:pt x="1418" y="320"/>
                    <a:pt x="1101" y="0"/>
                    <a:pt x="70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6"/>
            <p:cNvSpPr/>
            <p:nvPr/>
          </p:nvSpPr>
          <p:spPr>
            <a:xfrm>
              <a:off x="5050144" y="2556786"/>
              <a:ext cx="56420" cy="56388"/>
            </a:xfrm>
            <a:custGeom>
              <a:avLst/>
              <a:gdLst/>
              <a:ahLst/>
              <a:cxnLst/>
              <a:rect l="l" t="t" r="r" b="b"/>
              <a:pathLst>
                <a:path w="1771" h="1770" extrusionOk="0">
                  <a:moveTo>
                    <a:pt x="886" y="437"/>
                  </a:moveTo>
                  <a:cubicBezTo>
                    <a:pt x="1133" y="437"/>
                    <a:pt x="1333" y="638"/>
                    <a:pt x="1333" y="885"/>
                  </a:cubicBezTo>
                  <a:cubicBezTo>
                    <a:pt x="1333" y="1134"/>
                    <a:pt x="1133" y="1333"/>
                    <a:pt x="886" y="1333"/>
                  </a:cubicBezTo>
                  <a:cubicBezTo>
                    <a:pt x="638" y="1333"/>
                    <a:pt x="438" y="1130"/>
                    <a:pt x="438" y="885"/>
                  </a:cubicBezTo>
                  <a:cubicBezTo>
                    <a:pt x="436" y="638"/>
                    <a:pt x="638" y="437"/>
                    <a:pt x="886" y="437"/>
                  </a:cubicBezTo>
                  <a:close/>
                  <a:moveTo>
                    <a:pt x="886" y="0"/>
                  </a:moveTo>
                  <a:cubicBezTo>
                    <a:pt x="397" y="0"/>
                    <a:pt x="1" y="399"/>
                    <a:pt x="1" y="885"/>
                  </a:cubicBezTo>
                  <a:cubicBezTo>
                    <a:pt x="1" y="1373"/>
                    <a:pt x="397" y="1770"/>
                    <a:pt x="886" y="1770"/>
                  </a:cubicBezTo>
                  <a:cubicBezTo>
                    <a:pt x="1374" y="1770"/>
                    <a:pt x="1770" y="1373"/>
                    <a:pt x="1770" y="885"/>
                  </a:cubicBezTo>
                  <a:cubicBezTo>
                    <a:pt x="1770" y="399"/>
                    <a:pt x="1374" y="0"/>
                    <a:pt x="88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6"/>
            <p:cNvSpPr/>
            <p:nvPr/>
          </p:nvSpPr>
          <p:spPr>
            <a:xfrm>
              <a:off x="4857215" y="2313809"/>
              <a:ext cx="403921" cy="474740"/>
            </a:xfrm>
            <a:custGeom>
              <a:avLst/>
              <a:gdLst/>
              <a:ahLst/>
              <a:cxnLst/>
              <a:rect l="l" t="t" r="r" b="b"/>
              <a:pathLst>
                <a:path w="12679" h="14902" extrusionOk="0">
                  <a:moveTo>
                    <a:pt x="9769" y="3673"/>
                  </a:moveTo>
                  <a:cubicBezTo>
                    <a:pt x="9918" y="3673"/>
                    <a:pt x="10039" y="3794"/>
                    <a:pt x="10039" y="3941"/>
                  </a:cubicBezTo>
                  <a:lnTo>
                    <a:pt x="10039" y="4508"/>
                  </a:lnTo>
                  <a:cubicBezTo>
                    <a:pt x="9628" y="4419"/>
                    <a:pt x="9306" y="4088"/>
                    <a:pt x="9233" y="3673"/>
                  </a:cubicBezTo>
                  <a:close/>
                  <a:moveTo>
                    <a:pt x="10257" y="1504"/>
                  </a:moveTo>
                  <a:cubicBezTo>
                    <a:pt x="11353" y="1504"/>
                    <a:pt x="12242" y="2393"/>
                    <a:pt x="12242" y="3489"/>
                  </a:cubicBezTo>
                  <a:cubicBezTo>
                    <a:pt x="12242" y="4510"/>
                    <a:pt x="11466" y="5355"/>
                    <a:pt x="10476" y="5461"/>
                  </a:cubicBezTo>
                  <a:lnTo>
                    <a:pt x="10476" y="4947"/>
                  </a:lnTo>
                  <a:cubicBezTo>
                    <a:pt x="10971" y="4873"/>
                    <a:pt x="11399" y="4551"/>
                    <a:pt x="11608" y="4084"/>
                  </a:cubicBezTo>
                  <a:cubicBezTo>
                    <a:pt x="11655" y="3975"/>
                    <a:pt x="11608" y="3843"/>
                    <a:pt x="11495" y="3796"/>
                  </a:cubicBezTo>
                  <a:cubicBezTo>
                    <a:pt x="11467" y="3783"/>
                    <a:pt x="11437" y="3777"/>
                    <a:pt x="11407" y="3777"/>
                  </a:cubicBezTo>
                  <a:cubicBezTo>
                    <a:pt x="11324" y="3777"/>
                    <a:pt x="11244" y="3825"/>
                    <a:pt x="11208" y="3907"/>
                  </a:cubicBezTo>
                  <a:cubicBezTo>
                    <a:pt x="11071" y="4216"/>
                    <a:pt x="10796" y="4436"/>
                    <a:pt x="10476" y="4504"/>
                  </a:cubicBezTo>
                  <a:lnTo>
                    <a:pt x="10476" y="3939"/>
                  </a:lnTo>
                  <a:cubicBezTo>
                    <a:pt x="10476" y="3551"/>
                    <a:pt x="10159" y="3233"/>
                    <a:pt x="9769" y="3233"/>
                  </a:cubicBezTo>
                  <a:lnTo>
                    <a:pt x="9246" y="3233"/>
                  </a:lnTo>
                  <a:cubicBezTo>
                    <a:pt x="9361" y="2784"/>
                    <a:pt x="9769" y="2447"/>
                    <a:pt x="10255" y="2447"/>
                  </a:cubicBezTo>
                  <a:cubicBezTo>
                    <a:pt x="10664" y="2447"/>
                    <a:pt x="11037" y="2690"/>
                    <a:pt x="11205" y="3065"/>
                  </a:cubicBezTo>
                  <a:cubicBezTo>
                    <a:pt x="11240" y="3146"/>
                    <a:pt x="11323" y="3195"/>
                    <a:pt x="11408" y="3195"/>
                  </a:cubicBezTo>
                  <a:cubicBezTo>
                    <a:pt x="11437" y="3195"/>
                    <a:pt x="11466" y="3190"/>
                    <a:pt x="11493" y="3178"/>
                  </a:cubicBezTo>
                  <a:cubicBezTo>
                    <a:pt x="11602" y="3129"/>
                    <a:pt x="11653" y="2999"/>
                    <a:pt x="11604" y="2890"/>
                  </a:cubicBezTo>
                  <a:cubicBezTo>
                    <a:pt x="11367" y="2357"/>
                    <a:pt x="10837" y="2010"/>
                    <a:pt x="10255" y="2010"/>
                  </a:cubicBezTo>
                  <a:cubicBezTo>
                    <a:pt x="9525" y="2010"/>
                    <a:pt x="8922" y="2538"/>
                    <a:pt x="8798" y="3233"/>
                  </a:cubicBezTo>
                  <a:lnTo>
                    <a:pt x="8285" y="3233"/>
                  </a:lnTo>
                  <a:cubicBezTo>
                    <a:pt x="8413" y="2261"/>
                    <a:pt x="9250" y="1504"/>
                    <a:pt x="10257" y="1504"/>
                  </a:cubicBezTo>
                  <a:close/>
                  <a:moveTo>
                    <a:pt x="8792" y="3673"/>
                  </a:moveTo>
                  <a:cubicBezTo>
                    <a:pt x="8871" y="4329"/>
                    <a:pt x="9385" y="4854"/>
                    <a:pt x="10039" y="4952"/>
                  </a:cubicBezTo>
                  <a:lnTo>
                    <a:pt x="10039" y="5468"/>
                  </a:lnTo>
                  <a:cubicBezTo>
                    <a:pt x="9105" y="5365"/>
                    <a:pt x="8366" y="4615"/>
                    <a:pt x="8280" y="3677"/>
                  </a:cubicBezTo>
                  <a:lnTo>
                    <a:pt x="8792" y="3677"/>
                  </a:lnTo>
                  <a:lnTo>
                    <a:pt x="8792" y="3673"/>
                  </a:lnTo>
                  <a:close/>
                  <a:moveTo>
                    <a:pt x="6183" y="3673"/>
                  </a:moveTo>
                  <a:lnTo>
                    <a:pt x="6592" y="5478"/>
                  </a:lnTo>
                  <a:lnTo>
                    <a:pt x="5051" y="5478"/>
                  </a:lnTo>
                  <a:lnTo>
                    <a:pt x="5051" y="3943"/>
                  </a:lnTo>
                  <a:cubicBezTo>
                    <a:pt x="5051" y="3794"/>
                    <a:pt x="5170" y="3673"/>
                    <a:pt x="5319" y="3673"/>
                  </a:cubicBezTo>
                  <a:close/>
                  <a:moveTo>
                    <a:pt x="7843" y="3673"/>
                  </a:moveTo>
                  <a:cubicBezTo>
                    <a:pt x="7899" y="4419"/>
                    <a:pt x="8293" y="5073"/>
                    <a:pt x="8873" y="5478"/>
                  </a:cubicBezTo>
                  <a:lnTo>
                    <a:pt x="7044" y="5478"/>
                  </a:lnTo>
                  <a:lnTo>
                    <a:pt x="6630" y="3673"/>
                  </a:lnTo>
                  <a:close/>
                  <a:moveTo>
                    <a:pt x="1962" y="7875"/>
                  </a:moveTo>
                  <a:cubicBezTo>
                    <a:pt x="2125" y="7875"/>
                    <a:pt x="2283" y="7940"/>
                    <a:pt x="2401" y="8058"/>
                  </a:cubicBezTo>
                  <a:cubicBezTo>
                    <a:pt x="2548" y="8207"/>
                    <a:pt x="2612" y="8414"/>
                    <a:pt x="2571" y="8616"/>
                  </a:cubicBezTo>
                  <a:cubicBezTo>
                    <a:pt x="2531" y="8624"/>
                    <a:pt x="2490" y="8628"/>
                    <a:pt x="2450" y="8628"/>
                  </a:cubicBezTo>
                  <a:cubicBezTo>
                    <a:pt x="2286" y="8628"/>
                    <a:pt x="2129" y="8564"/>
                    <a:pt x="2013" y="8446"/>
                  </a:cubicBezTo>
                  <a:cubicBezTo>
                    <a:pt x="1865" y="8299"/>
                    <a:pt x="1802" y="8092"/>
                    <a:pt x="1842" y="7887"/>
                  </a:cubicBezTo>
                  <a:cubicBezTo>
                    <a:pt x="1882" y="7879"/>
                    <a:pt x="1922" y="7875"/>
                    <a:pt x="1962" y="7875"/>
                  </a:cubicBezTo>
                  <a:close/>
                  <a:moveTo>
                    <a:pt x="10039" y="5911"/>
                  </a:moveTo>
                  <a:lnTo>
                    <a:pt x="10039" y="12109"/>
                  </a:lnTo>
                  <a:lnTo>
                    <a:pt x="7971" y="12109"/>
                  </a:lnTo>
                  <a:cubicBezTo>
                    <a:pt x="7850" y="12109"/>
                    <a:pt x="7752" y="12207"/>
                    <a:pt x="7752" y="12326"/>
                  </a:cubicBezTo>
                  <a:cubicBezTo>
                    <a:pt x="7752" y="12445"/>
                    <a:pt x="7850" y="12546"/>
                    <a:pt x="7971" y="12546"/>
                  </a:cubicBezTo>
                  <a:lnTo>
                    <a:pt x="10039" y="12546"/>
                  </a:lnTo>
                  <a:lnTo>
                    <a:pt x="10039" y="13309"/>
                  </a:lnTo>
                  <a:lnTo>
                    <a:pt x="5328" y="13309"/>
                  </a:lnTo>
                  <a:cubicBezTo>
                    <a:pt x="5443" y="13068"/>
                    <a:pt x="5524" y="12812"/>
                    <a:pt x="5566" y="12546"/>
                  </a:cubicBezTo>
                  <a:lnTo>
                    <a:pt x="6954" y="12546"/>
                  </a:lnTo>
                  <a:cubicBezTo>
                    <a:pt x="7076" y="12546"/>
                    <a:pt x="7174" y="12445"/>
                    <a:pt x="7174" y="12326"/>
                  </a:cubicBezTo>
                  <a:cubicBezTo>
                    <a:pt x="7174" y="12207"/>
                    <a:pt x="7076" y="12109"/>
                    <a:pt x="6954" y="12109"/>
                  </a:cubicBezTo>
                  <a:lnTo>
                    <a:pt x="5601" y="12109"/>
                  </a:lnTo>
                  <a:cubicBezTo>
                    <a:pt x="5601" y="11518"/>
                    <a:pt x="5424" y="10936"/>
                    <a:pt x="5051" y="10435"/>
                  </a:cubicBezTo>
                  <a:lnTo>
                    <a:pt x="5051" y="5911"/>
                  </a:lnTo>
                  <a:close/>
                  <a:moveTo>
                    <a:pt x="2801" y="9736"/>
                  </a:moveTo>
                  <a:cubicBezTo>
                    <a:pt x="4108" y="9736"/>
                    <a:pt x="5164" y="10802"/>
                    <a:pt x="5164" y="12100"/>
                  </a:cubicBezTo>
                  <a:cubicBezTo>
                    <a:pt x="5164" y="13400"/>
                    <a:pt x="4106" y="14464"/>
                    <a:pt x="2801" y="14464"/>
                  </a:cubicBezTo>
                  <a:cubicBezTo>
                    <a:pt x="1497" y="14464"/>
                    <a:pt x="437" y="13403"/>
                    <a:pt x="437" y="12100"/>
                  </a:cubicBezTo>
                  <a:cubicBezTo>
                    <a:pt x="437" y="10797"/>
                    <a:pt x="1497" y="9736"/>
                    <a:pt x="2801" y="9736"/>
                  </a:cubicBezTo>
                  <a:close/>
                  <a:moveTo>
                    <a:pt x="10039" y="13746"/>
                  </a:moveTo>
                  <a:cubicBezTo>
                    <a:pt x="10022" y="14144"/>
                    <a:pt x="9694" y="14464"/>
                    <a:pt x="9293" y="14464"/>
                  </a:cubicBezTo>
                  <a:lnTo>
                    <a:pt x="5797" y="14464"/>
                  </a:lnTo>
                  <a:cubicBezTo>
                    <a:pt x="5404" y="14464"/>
                    <a:pt x="5076" y="14157"/>
                    <a:pt x="5053" y="13765"/>
                  </a:cubicBezTo>
                  <a:lnTo>
                    <a:pt x="5065" y="13746"/>
                  </a:lnTo>
                  <a:close/>
                  <a:moveTo>
                    <a:pt x="4434" y="0"/>
                  </a:moveTo>
                  <a:cubicBezTo>
                    <a:pt x="4346" y="0"/>
                    <a:pt x="4263" y="56"/>
                    <a:pt x="4230" y="144"/>
                  </a:cubicBezTo>
                  <a:cubicBezTo>
                    <a:pt x="4187" y="257"/>
                    <a:pt x="4245" y="383"/>
                    <a:pt x="4360" y="426"/>
                  </a:cubicBezTo>
                  <a:lnTo>
                    <a:pt x="5543" y="858"/>
                  </a:lnTo>
                  <a:lnTo>
                    <a:pt x="6082" y="3231"/>
                  </a:lnTo>
                  <a:lnTo>
                    <a:pt x="5321" y="3231"/>
                  </a:lnTo>
                  <a:cubicBezTo>
                    <a:pt x="4931" y="3231"/>
                    <a:pt x="4616" y="3549"/>
                    <a:pt x="4616" y="3937"/>
                  </a:cubicBezTo>
                  <a:lnTo>
                    <a:pt x="4616" y="9966"/>
                  </a:lnTo>
                  <a:cubicBezTo>
                    <a:pt x="4179" y="9593"/>
                    <a:pt x="3626" y="9352"/>
                    <a:pt x="3021" y="9305"/>
                  </a:cubicBezTo>
                  <a:cubicBezTo>
                    <a:pt x="3044" y="8872"/>
                    <a:pt x="3287" y="8476"/>
                    <a:pt x="3663" y="8254"/>
                  </a:cubicBezTo>
                  <a:cubicBezTo>
                    <a:pt x="3767" y="8192"/>
                    <a:pt x="3801" y="8060"/>
                    <a:pt x="3742" y="7956"/>
                  </a:cubicBezTo>
                  <a:cubicBezTo>
                    <a:pt x="3701" y="7886"/>
                    <a:pt x="3628" y="7848"/>
                    <a:pt x="3554" y="7848"/>
                  </a:cubicBezTo>
                  <a:cubicBezTo>
                    <a:pt x="3516" y="7848"/>
                    <a:pt x="3478" y="7858"/>
                    <a:pt x="3443" y="7879"/>
                  </a:cubicBezTo>
                  <a:cubicBezTo>
                    <a:pt x="3268" y="7979"/>
                    <a:pt x="3119" y="8111"/>
                    <a:pt x="2995" y="8260"/>
                  </a:cubicBezTo>
                  <a:cubicBezTo>
                    <a:pt x="2953" y="8069"/>
                    <a:pt x="2853" y="7889"/>
                    <a:pt x="2712" y="7744"/>
                  </a:cubicBezTo>
                  <a:cubicBezTo>
                    <a:pt x="2511" y="7544"/>
                    <a:pt x="2241" y="7435"/>
                    <a:pt x="1961" y="7435"/>
                  </a:cubicBezTo>
                  <a:cubicBezTo>
                    <a:pt x="1893" y="7435"/>
                    <a:pt x="1823" y="7441"/>
                    <a:pt x="1755" y="7455"/>
                  </a:cubicBezTo>
                  <a:cubicBezTo>
                    <a:pt x="1582" y="7489"/>
                    <a:pt x="1450" y="7623"/>
                    <a:pt x="1414" y="7796"/>
                  </a:cubicBezTo>
                  <a:cubicBezTo>
                    <a:pt x="1345" y="8145"/>
                    <a:pt x="1454" y="8501"/>
                    <a:pt x="1706" y="8753"/>
                  </a:cubicBezTo>
                  <a:cubicBezTo>
                    <a:pt x="1903" y="8950"/>
                    <a:pt x="2169" y="9064"/>
                    <a:pt x="2452" y="9064"/>
                  </a:cubicBezTo>
                  <a:cubicBezTo>
                    <a:pt x="2506" y="9064"/>
                    <a:pt x="2561" y="9060"/>
                    <a:pt x="2616" y="9051"/>
                  </a:cubicBezTo>
                  <a:lnTo>
                    <a:pt x="2616" y="9051"/>
                  </a:lnTo>
                  <a:cubicBezTo>
                    <a:pt x="2601" y="9134"/>
                    <a:pt x="2590" y="9222"/>
                    <a:pt x="2586" y="9307"/>
                  </a:cubicBezTo>
                  <a:cubicBezTo>
                    <a:pt x="1141" y="9418"/>
                    <a:pt x="0" y="10629"/>
                    <a:pt x="0" y="12100"/>
                  </a:cubicBezTo>
                  <a:cubicBezTo>
                    <a:pt x="0" y="13643"/>
                    <a:pt x="1256" y="14901"/>
                    <a:pt x="2801" y="14901"/>
                  </a:cubicBezTo>
                  <a:cubicBezTo>
                    <a:pt x="3533" y="14901"/>
                    <a:pt x="4200" y="14618"/>
                    <a:pt x="4699" y="14157"/>
                  </a:cubicBezTo>
                  <a:cubicBezTo>
                    <a:pt x="4874" y="14592"/>
                    <a:pt x="5298" y="14901"/>
                    <a:pt x="5797" y="14901"/>
                  </a:cubicBezTo>
                  <a:lnTo>
                    <a:pt x="9293" y="14901"/>
                  </a:lnTo>
                  <a:cubicBezTo>
                    <a:pt x="9945" y="14901"/>
                    <a:pt x="10476" y="14370"/>
                    <a:pt x="10476" y="13718"/>
                  </a:cubicBezTo>
                  <a:lnTo>
                    <a:pt x="10476" y="12326"/>
                  </a:lnTo>
                  <a:lnTo>
                    <a:pt x="10476" y="5900"/>
                  </a:lnTo>
                  <a:cubicBezTo>
                    <a:pt x="11709" y="5790"/>
                    <a:pt x="12679" y="4753"/>
                    <a:pt x="12679" y="3489"/>
                  </a:cubicBezTo>
                  <a:cubicBezTo>
                    <a:pt x="12679" y="2155"/>
                    <a:pt x="11591" y="1067"/>
                    <a:pt x="10257" y="1067"/>
                  </a:cubicBezTo>
                  <a:cubicBezTo>
                    <a:pt x="9007" y="1067"/>
                    <a:pt x="7976" y="2018"/>
                    <a:pt x="7848" y="3233"/>
                  </a:cubicBezTo>
                  <a:lnTo>
                    <a:pt x="6528" y="3233"/>
                  </a:lnTo>
                  <a:lnTo>
                    <a:pt x="5940" y="649"/>
                  </a:lnTo>
                  <a:cubicBezTo>
                    <a:pt x="5923" y="577"/>
                    <a:pt x="5869" y="517"/>
                    <a:pt x="5801" y="492"/>
                  </a:cubicBezTo>
                  <a:lnTo>
                    <a:pt x="4509" y="14"/>
                  </a:lnTo>
                  <a:cubicBezTo>
                    <a:pt x="4484" y="5"/>
                    <a:pt x="4459" y="0"/>
                    <a:pt x="44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8" name="Google Shape;648;p26"/>
          <p:cNvSpPr txBox="1"/>
          <p:nvPr/>
        </p:nvSpPr>
        <p:spPr>
          <a:xfrm>
            <a:off x="189421" y="4101259"/>
            <a:ext cx="1124026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Incentivise</a:t>
            </a:r>
            <a:endParaRPr sz="1050" b="1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sp>
        <p:nvSpPr>
          <p:cNvPr id="649" name="Google Shape;649;p26"/>
          <p:cNvSpPr txBox="1"/>
          <p:nvPr/>
        </p:nvSpPr>
        <p:spPr>
          <a:xfrm>
            <a:off x="7971087" y="4101258"/>
            <a:ext cx="875561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Penalise</a:t>
            </a:r>
            <a:endParaRPr sz="1050" b="1" i="0" u="none" strike="noStrike" cap="none">
              <a:solidFill>
                <a:schemeClr val="lt1"/>
              </a:solidFill>
              <a:latin typeface="Cinzel Decorative"/>
              <a:ea typeface="Cinzel Decorative"/>
              <a:cs typeface="Cinzel Decorative"/>
              <a:sym typeface="Cinzel Decorative"/>
            </a:endParaRPr>
          </a:p>
        </p:txBody>
      </p:sp>
      <p:cxnSp>
        <p:nvCxnSpPr>
          <p:cNvPr id="650" name="Google Shape;650;p26"/>
          <p:cNvCxnSpPr/>
          <p:nvPr/>
        </p:nvCxnSpPr>
        <p:spPr>
          <a:xfrm>
            <a:off x="309492" y="3991189"/>
            <a:ext cx="8446497" cy="0"/>
          </a:xfrm>
          <a:prstGeom prst="straightConnector1">
            <a:avLst/>
          </a:prstGeom>
          <a:noFill/>
          <a:ln w="28575" cap="flat" cmpd="sng">
            <a:solidFill>
              <a:srgbClr val="92929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651" name="Google Shape;651;p26"/>
          <p:cNvSpPr txBox="1"/>
          <p:nvPr/>
        </p:nvSpPr>
        <p:spPr>
          <a:xfrm flipH="1">
            <a:off x="84148" y="4897279"/>
            <a:ext cx="888205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* Based on the result in decision tree, there is a significant increase in likelihood of cancellations when lead time is above 16.5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7"/>
          <p:cNvSpPr txBox="1">
            <a:spLocks noGrp="1"/>
          </p:cNvSpPr>
          <p:nvPr>
            <p:ph type="title"/>
          </p:nvPr>
        </p:nvSpPr>
        <p:spPr>
          <a:xfrm>
            <a:off x="3367513" y="1747450"/>
            <a:ext cx="4218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Risks &amp;</a:t>
            </a:r>
            <a:endParaRPr/>
          </a:p>
        </p:txBody>
      </p:sp>
      <p:sp>
        <p:nvSpPr>
          <p:cNvPr id="657" name="Google Shape;657;p27"/>
          <p:cNvSpPr txBox="1">
            <a:spLocks noGrp="1"/>
          </p:cNvSpPr>
          <p:nvPr>
            <p:ph type="title" idx="2"/>
          </p:nvPr>
        </p:nvSpPr>
        <p:spPr>
          <a:xfrm>
            <a:off x="1405188" y="951810"/>
            <a:ext cx="2294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4</a:t>
            </a:r>
            <a:endParaRPr/>
          </a:p>
        </p:txBody>
      </p:sp>
      <p:sp>
        <p:nvSpPr>
          <p:cNvPr id="658" name="Google Shape;658;p27"/>
          <p:cNvSpPr txBox="1"/>
          <p:nvPr/>
        </p:nvSpPr>
        <p:spPr>
          <a:xfrm>
            <a:off x="736600" y="2571750"/>
            <a:ext cx="438708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Limitations</a:t>
            </a:r>
            <a:endParaRPr sz="1400" b="0" i="0" u="none" strike="noStrike" cap="none">
              <a:solidFill>
                <a:srgbClr val="000000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659" name="Google Shape;659;p27"/>
          <p:cNvCxnSpPr/>
          <p:nvPr/>
        </p:nvCxnSpPr>
        <p:spPr>
          <a:xfrm>
            <a:off x="5123688" y="3028950"/>
            <a:ext cx="20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0" name="Google Shape;660;p27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8"/>
          <p:cNvSpPr/>
          <p:nvPr/>
        </p:nvSpPr>
        <p:spPr>
          <a:xfrm>
            <a:off x="1701800" y="2228304"/>
            <a:ext cx="1097400" cy="109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8"/>
          <p:cNvSpPr txBox="1">
            <a:spLocks noGrp="1"/>
          </p:cNvSpPr>
          <p:nvPr>
            <p:ph type="title"/>
          </p:nvPr>
        </p:nvSpPr>
        <p:spPr>
          <a:xfrm>
            <a:off x="390816" y="365760"/>
            <a:ext cx="833865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Risks and Restrictions of the model</a:t>
            </a:r>
            <a:endParaRPr/>
          </a:p>
        </p:txBody>
      </p:sp>
      <p:sp>
        <p:nvSpPr>
          <p:cNvPr id="667" name="Google Shape;667;p28"/>
          <p:cNvSpPr/>
          <p:nvPr/>
        </p:nvSpPr>
        <p:spPr>
          <a:xfrm>
            <a:off x="4023300" y="2232439"/>
            <a:ext cx="1097400" cy="109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6344800" y="2228304"/>
            <a:ext cx="1097400" cy="1097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9" name="Google Shape;669;p28"/>
          <p:cNvCxnSpPr>
            <a:stCxn id="665" idx="6"/>
            <a:endCxn id="667" idx="2"/>
          </p:cNvCxnSpPr>
          <p:nvPr/>
        </p:nvCxnSpPr>
        <p:spPr>
          <a:xfrm>
            <a:off x="2799200" y="2777004"/>
            <a:ext cx="1224000" cy="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0" name="Google Shape;670;p28"/>
          <p:cNvCxnSpPr>
            <a:stCxn id="667" idx="6"/>
            <a:endCxn id="668" idx="2"/>
          </p:cNvCxnSpPr>
          <p:nvPr/>
        </p:nvCxnSpPr>
        <p:spPr>
          <a:xfrm rot="10800000" flipH="1">
            <a:off x="5120700" y="2776939"/>
            <a:ext cx="1224000" cy="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1" name="Google Shape;671;p28"/>
          <p:cNvCxnSpPr>
            <a:stCxn id="665" idx="2"/>
          </p:cNvCxnSpPr>
          <p:nvPr/>
        </p:nvCxnSpPr>
        <p:spPr>
          <a:xfrm rot="10800000">
            <a:off x="-48100" y="2777004"/>
            <a:ext cx="174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72" name="Google Shape;672;p28"/>
          <p:cNvGrpSpPr/>
          <p:nvPr/>
        </p:nvGrpSpPr>
        <p:grpSpPr>
          <a:xfrm>
            <a:off x="2804975" y="221500"/>
            <a:ext cx="3559250" cy="104700"/>
            <a:chOff x="2805000" y="488200"/>
            <a:chExt cx="3559250" cy="104700"/>
          </a:xfrm>
        </p:grpSpPr>
        <p:sp>
          <p:nvSpPr>
            <p:cNvPr id="673" name="Google Shape;673;p28"/>
            <p:cNvSpPr/>
            <p:nvPr/>
          </p:nvSpPr>
          <p:spPr>
            <a:xfrm>
              <a:off x="4519675" y="488200"/>
              <a:ext cx="104700" cy="104700"/>
            </a:xfrm>
            <a:prstGeom prst="star4">
              <a:avLst>
                <a:gd name="adj" fmla="val 125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4" name="Google Shape;674;p28"/>
            <p:cNvCxnSpPr/>
            <p:nvPr/>
          </p:nvCxnSpPr>
          <p:spPr>
            <a:xfrm rot="10800000">
              <a:off x="2805000" y="540550"/>
              <a:ext cx="15570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5" name="Google Shape;675;p28"/>
            <p:cNvCxnSpPr/>
            <p:nvPr/>
          </p:nvCxnSpPr>
          <p:spPr>
            <a:xfrm rot="10800000">
              <a:off x="4782050" y="540550"/>
              <a:ext cx="1582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676" name="Google Shape;676;p28"/>
          <p:cNvSpPr txBox="1"/>
          <p:nvPr/>
        </p:nvSpPr>
        <p:spPr>
          <a:xfrm>
            <a:off x="1266224" y="1505031"/>
            <a:ext cx="1854042" cy="54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9E5D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temporal dependencies consideration</a:t>
            </a:r>
            <a:endParaRPr/>
          </a:p>
        </p:txBody>
      </p:sp>
      <p:sp>
        <p:nvSpPr>
          <p:cNvPr id="677" name="Google Shape;677;p28"/>
          <p:cNvSpPr txBox="1"/>
          <p:nvPr/>
        </p:nvSpPr>
        <p:spPr>
          <a:xfrm>
            <a:off x="1149919" y="3589955"/>
            <a:ext cx="2201161" cy="80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Excluded factors, e.g. seasonality, local events, economic / policy changes </a:t>
            </a:r>
            <a:endParaRPr/>
          </a:p>
          <a:p>
            <a:pPr marL="228600" marR="0" lvl="0" indent="-161925" algn="l" rtl="0">
              <a:lnSpc>
                <a:spcPct val="118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E9E5D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678" name="Google Shape;678;p28"/>
          <p:cNvSpPr txBox="1"/>
          <p:nvPr/>
        </p:nvSpPr>
        <p:spPr>
          <a:xfrm>
            <a:off x="3717092" y="1619343"/>
            <a:ext cx="1685493" cy="188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9E5D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imbalanced data </a:t>
            </a:r>
            <a:endParaRPr/>
          </a:p>
        </p:txBody>
      </p:sp>
      <p:sp>
        <p:nvSpPr>
          <p:cNvPr id="679" name="Google Shape;679;p28"/>
          <p:cNvSpPr txBox="1"/>
          <p:nvPr/>
        </p:nvSpPr>
        <p:spPr>
          <a:xfrm>
            <a:off x="3684713" y="3601710"/>
            <a:ext cx="1841126" cy="101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Biased tree construction </a:t>
            </a:r>
            <a:br>
              <a:rPr lang="en-US" sz="14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</a:br>
            <a:r>
              <a:rPr lang="en-US" sz="14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(67% of dataset are from local visitors)</a:t>
            </a:r>
            <a:br>
              <a:rPr lang="en-US" sz="14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</a:br>
            <a:endParaRPr sz="1400" b="0" i="0" u="none" strike="noStrike" cap="none">
              <a:solidFill>
                <a:srgbClr val="E9E5D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  <a:p>
            <a:pPr marL="228600" marR="0" lvl="0" indent="-161925" algn="l" rtl="0">
              <a:lnSpc>
                <a:spcPct val="118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E9E5D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680" name="Google Shape;680;p28"/>
          <p:cNvSpPr txBox="1"/>
          <p:nvPr/>
        </p:nvSpPr>
        <p:spPr>
          <a:xfrm>
            <a:off x="5976485" y="1613236"/>
            <a:ext cx="1854042" cy="368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9E5D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managerial decision </a:t>
            </a:r>
            <a:endParaRPr/>
          </a:p>
        </p:txBody>
      </p:sp>
      <p:sp>
        <p:nvSpPr>
          <p:cNvPr id="681" name="Google Shape;681;p28"/>
          <p:cNvSpPr txBox="1"/>
          <p:nvPr/>
        </p:nvSpPr>
        <p:spPr>
          <a:xfrm>
            <a:off x="5920345" y="3605344"/>
            <a:ext cx="1959576" cy="586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Potentially ineffective strategies</a:t>
            </a:r>
            <a:endParaRPr sz="1200" b="0" i="0" u="none" strike="noStrike" cap="none">
              <a:solidFill>
                <a:srgbClr val="E9E5D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  <a:p>
            <a:pPr marL="228600" marR="0" lvl="0" indent="-161925" algn="ctr" rtl="0">
              <a:lnSpc>
                <a:spcPct val="118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E9E5D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pic>
        <p:nvPicPr>
          <p:cNvPr id="682" name="Google Shape;682;p28" descr="A person with a speech bubble above his hea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3812" y="2479394"/>
            <a:ext cx="626663" cy="62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28" descr="A black background with a black square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5172" y="2482502"/>
            <a:ext cx="605267" cy="605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28" descr="A black background with a black square&#10;&#10;Description automatically generated with medium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7793" y="2412251"/>
            <a:ext cx="708883" cy="708883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28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9"/>
          <p:cNvSpPr txBox="1">
            <a:spLocks noGrp="1"/>
          </p:cNvSpPr>
          <p:nvPr>
            <p:ph type="title"/>
          </p:nvPr>
        </p:nvSpPr>
        <p:spPr>
          <a:xfrm>
            <a:off x="3367513" y="1747450"/>
            <a:ext cx="4218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next</a:t>
            </a:r>
            <a:endParaRPr/>
          </a:p>
        </p:txBody>
      </p:sp>
      <p:sp>
        <p:nvSpPr>
          <p:cNvPr id="691" name="Google Shape;691;p29"/>
          <p:cNvSpPr txBox="1">
            <a:spLocks noGrp="1"/>
          </p:cNvSpPr>
          <p:nvPr>
            <p:ph type="title" idx="2"/>
          </p:nvPr>
        </p:nvSpPr>
        <p:spPr>
          <a:xfrm>
            <a:off x="1405188" y="951810"/>
            <a:ext cx="2294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692" name="Google Shape;692;p29"/>
          <p:cNvSpPr txBox="1"/>
          <p:nvPr/>
        </p:nvSpPr>
        <p:spPr>
          <a:xfrm>
            <a:off x="1081216" y="2571750"/>
            <a:ext cx="40424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Step  </a:t>
            </a:r>
            <a:endParaRPr sz="1400" b="0" i="0" u="none" strike="noStrike" cap="none">
              <a:solidFill>
                <a:srgbClr val="000000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693" name="Google Shape;693;p29"/>
          <p:cNvCxnSpPr/>
          <p:nvPr/>
        </p:nvCxnSpPr>
        <p:spPr>
          <a:xfrm>
            <a:off x="5123688" y="3028950"/>
            <a:ext cx="20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4" name="Google Shape;694;p29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9" name="Google Shape;699;p30"/>
          <p:cNvGrpSpPr/>
          <p:nvPr/>
        </p:nvGrpSpPr>
        <p:grpSpPr>
          <a:xfrm>
            <a:off x="1062621" y="3970100"/>
            <a:ext cx="1206440" cy="2451456"/>
            <a:chOff x="0" y="0"/>
            <a:chExt cx="660400" cy="1341916"/>
          </a:xfrm>
        </p:grpSpPr>
        <p:sp>
          <p:nvSpPr>
            <p:cNvPr id="700" name="Google Shape;700;p30"/>
            <p:cNvSpPr/>
            <p:nvPr/>
          </p:nvSpPr>
          <p:spPr>
            <a:xfrm>
              <a:off x="0" y="0"/>
              <a:ext cx="660400" cy="1341916"/>
            </a:xfrm>
            <a:custGeom>
              <a:avLst/>
              <a:gdLst/>
              <a:ahLst/>
              <a:cxnLst/>
              <a:rect l="l" t="t" r="r" b="b"/>
              <a:pathLst>
                <a:path w="660400" h="1341916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0255"/>
                  </a:cubicBezTo>
                  <a:lnTo>
                    <a:pt x="660400" y="1341916"/>
                  </a:lnTo>
                  <a:lnTo>
                    <a:pt x="0" y="1341916"/>
                  </a:lnTo>
                  <a:lnTo>
                    <a:pt x="0" y="34099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929292">
                <a:alpha val="9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0"/>
            <p:cNvSpPr txBox="1"/>
            <p:nvPr/>
          </p:nvSpPr>
          <p:spPr>
            <a:xfrm>
              <a:off x="0" y="107950"/>
              <a:ext cx="660400" cy="1233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2042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2" name="Google Shape;702;p30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Model Measures</a:t>
            </a:r>
            <a:endParaRPr/>
          </a:p>
        </p:txBody>
      </p:sp>
      <p:sp>
        <p:nvSpPr>
          <p:cNvPr id="703" name="Google Shape;703;p30"/>
          <p:cNvSpPr/>
          <p:nvPr/>
        </p:nvSpPr>
        <p:spPr>
          <a:xfrm>
            <a:off x="1156202" y="4055065"/>
            <a:ext cx="1022476" cy="1022476"/>
          </a:xfrm>
          <a:custGeom>
            <a:avLst/>
            <a:gdLst/>
            <a:ahLst/>
            <a:cxnLst/>
            <a:rect l="l" t="t" r="r" b="b"/>
            <a:pathLst>
              <a:path w="2268736" h="2268736" extrusionOk="0">
                <a:moveTo>
                  <a:pt x="0" y="0"/>
                </a:moveTo>
                <a:lnTo>
                  <a:pt x="2268736" y="0"/>
                </a:lnTo>
                <a:lnTo>
                  <a:pt x="2268736" y="2268736"/>
                </a:lnTo>
                <a:lnTo>
                  <a:pt x="0" y="2268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0"/>
          <p:cNvSpPr/>
          <p:nvPr/>
        </p:nvSpPr>
        <p:spPr>
          <a:xfrm>
            <a:off x="4294528" y="1146448"/>
            <a:ext cx="467856" cy="451694"/>
          </a:xfrm>
          <a:custGeom>
            <a:avLst/>
            <a:gdLst/>
            <a:ahLst/>
            <a:cxnLst/>
            <a:rect l="l" t="t" r="r" b="b"/>
            <a:pathLst>
              <a:path w="1177060" h="1112857" extrusionOk="0">
                <a:moveTo>
                  <a:pt x="0" y="0"/>
                </a:moveTo>
                <a:lnTo>
                  <a:pt x="1177060" y="0"/>
                </a:lnTo>
                <a:lnTo>
                  <a:pt x="1177060" y="1112856"/>
                </a:lnTo>
                <a:lnTo>
                  <a:pt x="0" y="1112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7197416" y="1146448"/>
            <a:ext cx="467856" cy="489888"/>
          </a:xfrm>
          <a:custGeom>
            <a:avLst/>
            <a:gdLst/>
            <a:ahLst/>
            <a:cxnLst/>
            <a:rect l="l" t="t" r="r" b="b"/>
            <a:pathLst>
              <a:path w="1309055" h="1263833" extrusionOk="0">
                <a:moveTo>
                  <a:pt x="0" y="0"/>
                </a:moveTo>
                <a:lnTo>
                  <a:pt x="1309055" y="0"/>
                </a:lnTo>
                <a:lnTo>
                  <a:pt x="1309055" y="1263833"/>
                </a:lnTo>
                <a:lnTo>
                  <a:pt x="0" y="12638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7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1416836" y="1146448"/>
            <a:ext cx="458638" cy="470303"/>
          </a:xfrm>
          <a:custGeom>
            <a:avLst/>
            <a:gdLst/>
            <a:ahLst/>
            <a:cxnLst/>
            <a:rect l="l" t="t" r="r" b="b"/>
            <a:pathLst>
              <a:path w="1249942" h="1209035" extrusionOk="0">
                <a:moveTo>
                  <a:pt x="0" y="0"/>
                </a:moveTo>
                <a:lnTo>
                  <a:pt x="1249943" y="0"/>
                </a:lnTo>
                <a:lnTo>
                  <a:pt x="1249943" y="1209035"/>
                </a:lnTo>
                <a:lnTo>
                  <a:pt x="0" y="1209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 amt="7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0"/>
          <p:cNvSpPr txBox="1"/>
          <p:nvPr/>
        </p:nvSpPr>
        <p:spPr>
          <a:xfrm>
            <a:off x="1262790" y="4125354"/>
            <a:ext cx="79980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entury"/>
                <a:ea typeface="Century"/>
                <a:cs typeface="Century"/>
                <a:sym typeface="Century"/>
              </a:rPr>
              <a:t>1</a:t>
            </a:r>
            <a:endParaRPr/>
          </a:p>
        </p:txBody>
      </p:sp>
      <p:sp>
        <p:nvSpPr>
          <p:cNvPr id="708" name="Google Shape;708;p30"/>
          <p:cNvSpPr txBox="1"/>
          <p:nvPr/>
        </p:nvSpPr>
        <p:spPr>
          <a:xfrm>
            <a:off x="3467477" y="1838092"/>
            <a:ext cx="2308628" cy="54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9E5D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Test the Model on Half Yearly basis</a:t>
            </a:r>
            <a:endParaRPr/>
          </a:p>
        </p:txBody>
      </p:sp>
      <p:sp>
        <p:nvSpPr>
          <p:cNvPr id="709" name="Google Shape;709;p30"/>
          <p:cNvSpPr txBox="1"/>
          <p:nvPr/>
        </p:nvSpPr>
        <p:spPr>
          <a:xfrm>
            <a:off x="6197958" y="1838092"/>
            <a:ext cx="2653443" cy="547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9E5D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Potential Adjustments to the New Model </a:t>
            </a:r>
            <a:endParaRPr/>
          </a:p>
        </p:txBody>
      </p:sp>
      <p:sp>
        <p:nvSpPr>
          <p:cNvPr id="710" name="Google Shape;710;p30"/>
          <p:cNvSpPr txBox="1"/>
          <p:nvPr/>
        </p:nvSpPr>
        <p:spPr>
          <a:xfrm>
            <a:off x="490490" y="1917920"/>
            <a:ext cx="2494322" cy="368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2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E9E5D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Identify New Insight</a:t>
            </a:r>
            <a:endParaRPr/>
          </a:p>
        </p:txBody>
      </p:sp>
      <p:sp>
        <p:nvSpPr>
          <p:cNvPr id="711" name="Google Shape;711;p30"/>
          <p:cNvSpPr txBox="1"/>
          <p:nvPr/>
        </p:nvSpPr>
        <p:spPr>
          <a:xfrm>
            <a:off x="6267379" y="2391127"/>
            <a:ext cx="2514600" cy="943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Monitor and explore alternative models</a:t>
            </a:r>
            <a:endParaRPr/>
          </a:p>
          <a:p>
            <a:pPr marL="228600" marR="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Adjust the approach if a different model shows superior performance</a:t>
            </a:r>
            <a:endParaRPr sz="1200" b="0" i="0" u="none" strike="noStrike" cap="none">
              <a:solidFill>
                <a:srgbClr val="E9E5D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712" name="Google Shape;712;p30"/>
          <p:cNvSpPr txBox="1"/>
          <p:nvPr/>
        </p:nvSpPr>
        <p:spPr>
          <a:xfrm>
            <a:off x="480350" y="2391128"/>
            <a:ext cx="2514601" cy="167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Get additional data for modelling, such as reasons for cancellation</a:t>
            </a:r>
            <a:endParaRPr/>
          </a:p>
          <a:p>
            <a:pPr marL="228600" marR="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Third-party data – Economies Index, cultural Habit</a:t>
            </a:r>
            <a:endParaRPr/>
          </a:p>
          <a:p>
            <a:pPr marL="228600" marR="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Adjust the model to adapt the new insight</a:t>
            </a:r>
            <a:endParaRPr/>
          </a:p>
          <a:p>
            <a:pPr marL="228600" marR="0" lvl="0" indent="-161925" algn="l" rtl="0">
              <a:lnSpc>
                <a:spcPct val="118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2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713" name="Google Shape;713;p30"/>
          <p:cNvSpPr txBox="1"/>
          <p:nvPr/>
        </p:nvSpPr>
        <p:spPr>
          <a:xfrm>
            <a:off x="3365520" y="2404971"/>
            <a:ext cx="2514600" cy="128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A sufficient long timeframe to represent any changes of data pattern</a:t>
            </a:r>
            <a:endParaRPr/>
          </a:p>
          <a:p>
            <a:pPr marL="228600" marR="0" lvl="1" indent="-2286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n-US" sz="1200" b="0" i="0" u="none" strike="noStrike" cap="none">
                <a:solidFill>
                  <a:srgbClr val="E9E5D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Regularly measure the model’s stability and consistency</a:t>
            </a:r>
            <a:endParaRPr sz="1400" b="0" i="0" u="none" strike="noStrike" cap="none">
              <a:solidFill>
                <a:srgbClr val="E9E5D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161925" algn="l" rtl="0">
              <a:lnSpc>
                <a:spcPct val="118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rgbClr val="E9E5D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714" name="Google Shape;714;p30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5" name="Google Shape;715;p30"/>
          <p:cNvCxnSpPr/>
          <p:nvPr/>
        </p:nvCxnSpPr>
        <p:spPr>
          <a:xfrm>
            <a:off x="3335590" y="2291584"/>
            <a:ext cx="2538535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6" name="Google Shape;716;p30"/>
          <p:cNvCxnSpPr/>
          <p:nvPr/>
        </p:nvCxnSpPr>
        <p:spPr>
          <a:xfrm>
            <a:off x="6238478" y="2291584"/>
            <a:ext cx="2538535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7" name="Google Shape;717;p30"/>
          <p:cNvCxnSpPr/>
          <p:nvPr/>
        </p:nvCxnSpPr>
        <p:spPr>
          <a:xfrm>
            <a:off x="451450" y="2291585"/>
            <a:ext cx="2538535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718" name="Google Shape;718;p30"/>
          <p:cNvGrpSpPr/>
          <p:nvPr/>
        </p:nvGrpSpPr>
        <p:grpSpPr>
          <a:xfrm>
            <a:off x="4032988" y="3970100"/>
            <a:ext cx="1206440" cy="2451456"/>
            <a:chOff x="0" y="0"/>
            <a:chExt cx="660400" cy="1341916"/>
          </a:xfrm>
        </p:grpSpPr>
        <p:sp>
          <p:nvSpPr>
            <p:cNvPr id="719" name="Google Shape;719;p30"/>
            <p:cNvSpPr/>
            <p:nvPr/>
          </p:nvSpPr>
          <p:spPr>
            <a:xfrm>
              <a:off x="0" y="0"/>
              <a:ext cx="660400" cy="1341916"/>
            </a:xfrm>
            <a:custGeom>
              <a:avLst/>
              <a:gdLst/>
              <a:ahLst/>
              <a:cxnLst/>
              <a:rect l="l" t="t" r="r" b="b"/>
              <a:pathLst>
                <a:path w="660400" h="1341916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0255"/>
                  </a:cubicBezTo>
                  <a:lnTo>
                    <a:pt x="660400" y="1341916"/>
                  </a:lnTo>
                  <a:lnTo>
                    <a:pt x="0" y="1341916"/>
                  </a:lnTo>
                  <a:lnTo>
                    <a:pt x="0" y="34099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929292">
                <a:alpha val="9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0"/>
            <p:cNvSpPr txBox="1"/>
            <p:nvPr/>
          </p:nvSpPr>
          <p:spPr>
            <a:xfrm>
              <a:off x="0" y="107950"/>
              <a:ext cx="660400" cy="1233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2042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1" name="Google Shape;721;p30"/>
          <p:cNvSpPr/>
          <p:nvPr/>
        </p:nvSpPr>
        <p:spPr>
          <a:xfrm>
            <a:off x="4126569" y="4055065"/>
            <a:ext cx="1022476" cy="1022476"/>
          </a:xfrm>
          <a:custGeom>
            <a:avLst/>
            <a:gdLst/>
            <a:ahLst/>
            <a:cxnLst/>
            <a:rect l="l" t="t" r="r" b="b"/>
            <a:pathLst>
              <a:path w="2268736" h="2268736" extrusionOk="0">
                <a:moveTo>
                  <a:pt x="0" y="0"/>
                </a:moveTo>
                <a:lnTo>
                  <a:pt x="2268736" y="0"/>
                </a:lnTo>
                <a:lnTo>
                  <a:pt x="2268736" y="2268736"/>
                </a:lnTo>
                <a:lnTo>
                  <a:pt x="0" y="2268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30"/>
          <p:cNvSpPr txBox="1"/>
          <p:nvPr/>
        </p:nvSpPr>
        <p:spPr>
          <a:xfrm>
            <a:off x="4233157" y="4184622"/>
            <a:ext cx="79980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2</a:t>
            </a:r>
            <a:endParaRPr/>
          </a:p>
        </p:txBody>
      </p:sp>
      <p:grpSp>
        <p:nvGrpSpPr>
          <p:cNvPr id="723" name="Google Shape;723;p30"/>
          <p:cNvGrpSpPr/>
          <p:nvPr/>
        </p:nvGrpSpPr>
        <p:grpSpPr>
          <a:xfrm>
            <a:off x="6889514" y="3970100"/>
            <a:ext cx="1206440" cy="2451456"/>
            <a:chOff x="0" y="0"/>
            <a:chExt cx="660400" cy="1341916"/>
          </a:xfrm>
        </p:grpSpPr>
        <p:sp>
          <p:nvSpPr>
            <p:cNvPr id="724" name="Google Shape;724;p30"/>
            <p:cNvSpPr/>
            <p:nvPr/>
          </p:nvSpPr>
          <p:spPr>
            <a:xfrm>
              <a:off x="0" y="0"/>
              <a:ext cx="660400" cy="1341916"/>
            </a:xfrm>
            <a:custGeom>
              <a:avLst/>
              <a:gdLst/>
              <a:ahLst/>
              <a:cxnLst/>
              <a:rect l="l" t="t" r="r" b="b"/>
              <a:pathLst>
                <a:path w="660400" h="1341916" extrusionOk="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40255"/>
                  </a:cubicBezTo>
                  <a:lnTo>
                    <a:pt x="660400" y="1341916"/>
                  </a:lnTo>
                  <a:lnTo>
                    <a:pt x="0" y="1341916"/>
                  </a:lnTo>
                  <a:lnTo>
                    <a:pt x="0" y="340999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929292">
                <a:alpha val="9490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0"/>
            <p:cNvSpPr txBox="1"/>
            <p:nvPr/>
          </p:nvSpPr>
          <p:spPr>
            <a:xfrm>
              <a:off x="0" y="107950"/>
              <a:ext cx="660400" cy="1233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2042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6" name="Google Shape;726;p30"/>
          <p:cNvSpPr/>
          <p:nvPr/>
        </p:nvSpPr>
        <p:spPr>
          <a:xfrm>
            <a:off x="6983095" y="4055065"/>
            <a:ext cx="1022476" cy="1022476"/>
          </a:xfrm>
          <a:custGeom>
            <a:avLst/>
            <a:gdLst/>
            <a:ahLst/>
            <a:cxnLst/>
            <a:rect l="l" t="t" r="r" b="b"/>
            <a:pathLst>
              <a:path w="2268736" h="2268736" extrusionOk="0">
                <a:moveTo>
                  <a:pt x="0" y="0"/>
                </a:moveTo>
                <a:lnTo>
                  <a:pt x="2268736" y="0"/>
                </a:lnTo>
                <a:lnTo>
                  <a:pt x="2268736" y="2268736"/>
                </a:lnTo>
                <a:lnTo>
                  <a:pt x="0" y="2268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30"/>
          <p:cNvSpPr txBox="1"/>
          <p:nvPr/>
        </p:nvSpPr>
        <p:spPr>
          <a:xfrm>
            <a:off x="7089683" y="4184622"/>
            <a:ext cx="79980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1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Business Measures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733" name="Google Shape;733;p31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1"/>
          <p:cNvSpPr txBox="1"/>
          <p:nvPr/>
        </p:nvSpPr>
        <p:spPr>
          <a:xfrm>
            <a:off x="1333500" y="1848646"/>
            <a:ext cx="2263140" cy="78950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Set KPI and evaluate ML model performance</a:t>
            </a:r>
            <a:endParaRPr/>
          </a:p>
        </p:txBody>
      </p:sp>
      <p:sp>
        <p:nvSpPr>
          <p:cNvPr id="735" name="Google Shape;735;p31"/>
          <p:cNvSpPr txBox="1"/>
          <p:nvPr/>
        </p:nvSpPr>
        <p:spPr>
          <a:xfrm>
            <a:off x="1333500" y="3414036"/>
            <a:ext cx="2263140" cy="38849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Customer Satisfaction ↑ ?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736" name="Google Shape;736;p31"/>
          <p:cNvSpPr txBox="1"/>
          <p:nvPr/>
        </p:nvSpPr>
        <p:spPr>
          <a:xfrm>
            <a:off x="1333500" y="2639424"/>
            <a:ext cx="2263140" cy="38869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Cancellation rate ↓ ?</a:t>
            </a:r>
            <a:endParaRPr sz="1400" b="0" i="0" u="none" strike="noStrike" cap="none">
              <a:solidFill>
                <a:schemeClr val="lt1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sp>
        <p:nvSpPr>
          <p:cNvPr id="737" name="Google Shape;737;p31"/>
          <p:cNvSpPr txBox="1"/>
          <p:nvPr/>
        </p:nvSpPr>
        <p:spPr>
          <a:xfrm>
            <a:off x="1333500" y="3028114"/>
            <a:ext cx="2263140" cy="38869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Benefit &gt; cost ?</a:t>
            </a:r>
            <a:endParaRPr/>
          </a:p>
        </p:txBody>
      </p:sp>
      <p:sp>
        <p:nvSpPr>
          <p:cNvPr id="738" name="Google Shape;738;p31"/>
          <p:cNvSpPr/>
          <p:nvPr/>
        </p:nvSpPr>
        <p:spPr>
          <a:xfrm>
            <a:off x="4061460" y="1848646"/>
            <a:ext cx="899160" cy="89916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good</a:t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4061460" y="2964456"/>
            <a:ext cx="899160" cy="89916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bad</a:t>
            </a:r>
            <a:endParaRPr/>
          </a:p>
        </p:txBody>
      </p:sp>
      <p:sp>
        <p:nvSpPr>
          <p:cNvPr id="740" name="Google Shape;740;p31"/>
          <p:cNvSpPr txBox="1"/>
          <p:nvPr/>
        </p:nvSpPr>
        <p:spPr>
          <a:xfrm>
            <a:off x="5905500" y="1848646"/>
            <a:ext cx="1394460" cy="78950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Enhance the measures</a:t>
            </a:r>
            <a:endParaRPr/>
          </a:p>
        </p:txBody>
      </p:sp>
      <p:sp>
        <p:nvSpPr>
          <p:cNvPr id="741" name="Google Shape;741;p31"/>
          <p:cNvSpPr txBox="1"/>
          <p:nvPr/>
        </p:nvSpPr>
        <p:spPr>
          <a:xfrm>
            <a:off x="5905500" y="3008458"/>
            <a:ext cx="1394460" cy="78950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Refine measures or ML Model</a:t>
            </a:r>
            <a:endParaRPr/>
          </a:p>
        </p:txBody>
      </p:sp>
      <p:sp>
        <p:nvSpPr>
          <p:cNvPr id="742" name="Google Shape;742;p31"/>
          <p:cNvSpPr/>
          <p:nvPr/>
        </p:nvSpPr>
        <p:spPr>
          <a:xfrm>
            <a:off x="5151120" y="2068139"/>
            <a:ext cx="563880" cy="35052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rgbClr val="3C3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31"/>
          <p:cNvSpPr/>
          <p:nvPr/>
        </p:nvSpPr>
        <p:spPr>
          <a:xfrm>
            <a:off x="5151120" y="3252298"/>
            <a:ext cx="563880" cy="35052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5400" cap="flat" cmpd="sng">
            <a:solidFill>
              <a:srgbClr val="3C3C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4" name="Google Shape;744;p31"/>
          <p:cNvCxnSpPr>
            <a:stCxn id="741" idx="2"/>
            <a:endCxn id="735" idx="2"/>
          </p:cNvCxnSpPr>
          <p:nvPr/>
        </p:nvCxnSpPr>
        <p:spPr>
          <a:xfrm rot="5400000">
            <a:off x="4531680" y="1731414"/>
            <a:ext cx="4500" cy="4137600"/>
          </a:xfrm>
          <a:prstGeom prst="bentConnector3">
            <a:avLst>
              <a:gd name="adj1" fmla="val 9584044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45" name="Google Shape;745;p31"/>
          <p:cNvCxnSpPr>
            <a:stCxn id="740" idx="0"/>
            <a:endCxn id="734" idx="0"/>
          </p:cNvCxnSpPr>
          <p:nvPr/>
        </p:nvCxnSpPr>
        <p:spPr>
          <a:xfrm rot="5400000">
            <a:off x="4533630" y="-219854"/>
            <a:ext cx="600" cy="4137600"/>
          </a:xfrm>
          <a:prstGeom prst="bentConnector3">
            <a:avLst>
              <a:gd name="adj1" fmla="val -76411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46" name="Google Shape;746;p31"/>
          <p:cNvSpPr txBox="1"/>
          <p:nvPr/>
        </p:nvSpPr>
        <p:spPr>
          <a:xfrm>
            <a:off x="3560491" y="4317563"/>
            <a:ext cx="20585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Evaluate every 3 months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2"/>
          <p:cNvSpPr txBox="1">
            <a:spLocks noGrp="1"/>
          </p:cNvSpPr>
          <p:nvPr>
            <p:ph type="title"/>
          </p:nvPr>
        </p:nvSpPr>
        <p:spPr>
          <a:xfrm>
            <a:off x="3367512" y="1747450"/>
            <a:ext cx="46334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interesting</a:t>
            </a:r>
            <a:endParaRPr/>
          </a:p>
        </p:txBody>
      </p:sp>
      <p:sp>
        <p:nvSpPr>
          <p:cNvPr id="752" name="Google Shape;752;p32"/>
          <p:cNvSpPr txBox="1">
            <a:spLocks noGrp="1"/>
          </p:cNvSpPr>
          <p:nvPr>
            <p:ph type="title" idx="2"/>
          </p:nvPr>
        </p:nvSpPr>
        <p:spPr>
          <a:xfrm>
            <a:off x="1405188" y="951810"/>
            <a:ext cx="22944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6</a:t>
            </a:r>
            <a:endParaRPr/>
          </a:p>
        </p:txBody>
      </p:sp>
      <p:sp>
        <p:nvSpPr>
          <p:cNvPr id="753" name="Google Shape;753;p32"/>
          <p:cNvSpPr txBox="1"/>
          <p:nvPr/>
        </p:nvSpPr>
        <p:spPr>
          <a:xfrm>
            <a:off x="1081216" y="2571750"/>
            <a:ext cx="404247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findings</a:t>
            </a:r>
            <a:endParaRPr sz="1400" b="0" i="0" u="none" strike="noStrike" cap="none">
              <a:solidFill>
                <a:srgbClr val="000000"/>
              </a:solidFill>
              <a:latin typeface="Josefin Sans Light"/>
              <a:ea typeface="Josefin Sans Light"/>
              <a:cs typeface="Josefin Sans Light"/>
              <a:sym typeface="Josefin Sans Light"/>
            </a:endParaRPr>
          </a:p>
        </p:txBody>
      </p:sp>
      <p:cxnSp>
        <p:nvCxnSpPr>
          <p:cNvPr id="754" name="Google Shape;754;p32"/>
          <p:cNvCxnSpPr/>
          <p:nvPr/>
        </p:nvCxnSpPr>
        <p:spPr>
          <a:xfrm>
            <a:off x="5123688" y="3028950"/>
            <a:ext cx="2015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55" name="Google Shape;755;p32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32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33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Interesting things</a:t>
            </a:r>
            <a:endParaRPr/>
          </a:p>
        </p:txBody>
      </p:sp>
      <p:cxnSp>
        <p:nvCxnSpPr>
          <p:cNvPr id="761" name="Google Shape;761;p33"/>
          <p:cNvCxnSpPr/>
          <p:nvPr/>
        </p:nvCxnSpPr>
        <p:spPr>
          <a:xfrm>
            <a:off x="742155" y="4553836"/>
            <a:ext cx="7704000" cy="0"/>
          </a:xfrm>
          <a:prstGeom prst="straightConnector1">
            <a:avLst/>
          </a:prstGeom>
          <a:noFill/>
          <a:ln w="9525" cap="flat" cmpd="sng">
            <a:solidFill>
              <a:srgbClr val="867B4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62" name="Google Shape;762;p33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p33"/>
          <p:cNvCxnSpPr/>
          <p:nvPr/>
        </p:nvCxnSpPr>
        <p:spPr>
          <a:xfrm>
            <a:off x="778704" y="2080260"/>
            <a:ext cx="7680202" cy="0"/>
          </a:xfrm>
          <a:prstGeom prst="straightConnector1">
            <a:avLst/>
          </a:prstGeom>
          <a:noFill/>
          <a:ln w="9525" cap="flat" cmpd="sng">
            <a:solidFill>
              <a:srgbClr val="867B4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764" name="Google Shape;764;p33"/>
          <p:cNvSpPr txBox="1"/>
          <p:nvPr/>
        </p:nvSpPr>
        <p:spPr>
          <a:xfrm>
            <a:off x="1393529" y="2456102"/>
            <a:ext cx="5748865" cy="73320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How high can a room price surge? </a:t>
            </a:r>
            <a:endParaRPr/>
          </a:p>
        </p:txBody>
      </p:sp>
      <p:sp>
        <p:nvSpPr>
          <p:cNvPr id="765" name="Google Shape;765;p33"/>
          <p:cNvSpPr txBox="1"/>
          <p:nvPr/>
        </p:nvSpPr>
        <p:spPr>
          <a:xfrm>
            <a:off x="7306520" y="2456102"/>
            <a:ext cx="1183032" cy="733204"/>
          </a:xfrm>
          <a:prstGeom prst="rect">
            <a:avLst/>
          </a:prstGeom>
          <a:solidFill>
            <a:srgbClr val="867B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2200" b="1" i="0" u="none" strike="noStrike" cap="none">
                <a:solidFill>
                  <a:schemeClr val="dk2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€5,400</a:t>
            </a:r>
            <a:endParaRPr/>
          </a:p>
        </p:txBody>
      </p:sp>
      <p:cxnSp>
        <p:nvCxnSpPr>
          <p:cNvPr id="766" name="Google Shape;766;p33"/>
          <p:cNvCxnSpPr/>
          <p:nvPr/>
        </p:nvCxnSpPr>
        <p:spPr>
          <a:xfrm>
            <a:off x="778704" y="3273853"/>
            <a:ext cx="7680202" cy="0"/>
          </a:xfrm>
          <a:prstGeom prst="straightConnector1">
            <a:avLst/>
          </a:prstGeom>
          <a:noFill/>
          <a:ln w="9525" cap="flat" cmpd="sng">
            <a:solidFill>
              <a:srgbClr val="867B4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767" name="Google Shape;767;p33"/>
          <p:cNvGrpSpPr/>
          <p:nvPr/>
        </p:nvGrpSpPr>
        <p:grpSpPr>
          <a:xfrm>
            <a:off x="835276" y="2522556"/>
            <a:ext cx="558392" cy="597653"/>
            <a:chOff x="1421638" y="4125633"/>
            <a:chExt cx="374709" cy="374006"/>
          </a:xfrm>
        </p:grpSpPr>
        <p:sp>
          <p:nvSpPr>
            <p:cNvPr id="768" name="Google Shape;768;p33"/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33"/>
            <p:cNvSpPr/>
            <p:nvPr/>
          </p:nvSpPr>
          <p:spPr>
            <a:xfrm>
              <a:off x="1428052" y="4125633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0" name="Google Shape;770;p33"/>
          <p:cNvSpPr txBox="1"/>
          <p:nvPr/>
        </p:nvSpPr>
        <p:spPr>
          <a:xfrm>
            <a:off x="1420737" y="3735948"/>
            <a:ext cx="5751543" cy="73320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Can R</a:t>
            </a:r>
            <a:r>
              <a:rPr lang="en-US" sz="2200" b="0" i="0" u="none" strike="noStrike" cap="none" baseline="30000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2</a:t>
            </a:r>
            <a:r>
              <a:rPr lang="en-US" sz="2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 be negative? </a:t>
            </a:r>
            <a:endParaRPr/>
          </a:p>
        </p:txBody>
      </p:sp>
      <p:sp>
        <p:nvSpPr>
          <p:cNvPr id="771" name="Google Shape;771;p33"/>
          <p:cNvSpPr txBox="1"/>
          <p:nvPr/>
        </p:nvSpPr>
        <p:spPr>
          <a:xfrm>
            <a:off x="7306150" y="3735948"/>
            <a:ext cx="1204961" cy="733204"/>
          </a:xfrm>
          <a:prstGeom prst="rect">
            <a:avLst/>
          </a:prstGeom>
          <a:solidFill>
            <a:srgbClr val="867B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2200" b="1" i="0" u="none" strike="noStrike" cap="none">
                <a:solidFill>
                  <a:schemeClr val="dk2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Yes !</a:t>
            </a:r>
            <a:endParaRPr/>
          </a:p>
        </p:txBody>
      </p:sp>
      <p:pic>
        <p:nvPicPr>
          <p:cNvPr id="772" name="Google Shape;772;p33" descr="Questions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026" y="3739271"/>
            <a:ext cx="728331" cy="728331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33"/>
          <p:cNvSpPr txBox="1"/>
          <p:nvPr/>
        </p:nvSpPr>
        <p:spPr>
          <a:xfrm>
            <a:off x="1453076" y="1269290"/>
            <a:ext cx="5719203" cy="73320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2200" b="0" i="0" u="none" strike="noStrike" cap="none">
                <a:solidFill>
                  <a:schemeClr val="lt1"/>
                </a:solidFill>
                <a:latin typeface="Josefin Sans Light"/>
                <a:ea typeface="Josefin Sans Light"/>
                <a:cs typeface="Josefin Sans Light"/>
                <a:sym typeface="Josefin Sans Light"/>
              </a:rPr>
              <a:t>How many babies can a family had? </a:t>
            </a:r>
            <a:endParaRPr/>
          </a:p>
        </p:txBody>
      </p:sp>
      <p:sp>
        <p:nvSpPr>
          <p:cNvPr id="774" name="Google Shape;774;p33"/>
          <p:cNvSpPr txBox="1"/>
          <p:nvPr/>
        </p:nvSpPr>
        <p:spPr>
          <a:xfrm>
            <a:off x="7307730" y="1269290"/>
            <a:ext cx="1170198" cy="733204"/>
          </a:xfrm>
          <a:prstGeom prst="rect">
            <a:avLst/>
          </a:prstGeom>
          <a:solidFill>
            <a:srgbClr val="867B4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efin Sans Light"/>
              <a:buNone/>
            </a:pPr>
            <a:r>
              <a:rPr lang="en-US" sz="2200" b="1" i="0" u="none" strike="noStrike" cap="none">
                <a:solidFill>
                  <a:schemeClr val="dk2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10</a:t>
            </a:r>
            <a:endParaRPr/>
          </a:p>
        </p:txBody>
      </p:sp>
      <p:pic>
        <p:nvPicPr>
          <p:cNvPr id="775" name="Google Shape;775;p33" descr="Man with baby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2253" y="1269290"/>
            <a:ext cx="728331" cy="728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Why R</a:t>
            </a:r>
            <a:r>
              <a:rPr lang="en-US" baseline="30000"/>
              <a:t>2</a:t>
            </a:r>
            <a:r>
              <a:rPr lang="en-US"/>
              <a:t> go negative ?</a:t>
            </a:r>
            <a:endParaRPr/>
          </a:p>
        </p:txBody>
      </p:sp>
      <p:sp>
        <p:nvSpPr>
          <p:cNvPr id="781" name="Google Shape;781;p34"/>
          <p:cNvSpPr txBox="1">
            <a:spLocks noGrp="1"/>
          </p:cNvSpPr>
          <p:nvPr>
            <p:ph type="body" idx="1"/>
          </p:nvPr>
        </p:nvSpPr>
        <p:spPr>
          <a:xfrm>
            <a:off x="5404149" y="1187753"/>
            <a:ext cx="3238571" cy="3429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/>
              <a:t>SS</a:t>
            </a:r>
            <a:r>
              <a:rPr lang="en-US" baseline="-25000"/>
              <a:t>tot</a:t>
            </a:r>
            <a:r>
              <a:rPr lang="en-US"/>
              <a:t> (Denominator) is the variation between actual values and the mean.  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/>
              <a:t>SS</a:t>
            </a:r>
            <a:r>
              <a:rPr lang="en-US" baseline="-25000"/>
              <a:t>res</a:t>
            </a:r>
            <a:r>
              <a:rPr lang="en-US"/>
              <a:t> (Nominator) is the variation between actual values and predicted value by model. 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/>
              <a:t>If SS</a:t>
            </a:r>
            <a:r>
              <a:rPr lang="en-US" baseline="-25000"/>
              <a:t>res</a:t>
            </a:r>
            <a:r>
              <a:rPr lang="en-US"/>
              <a:t> &gt; SS</a:t>
            </a:r>
            <a:r>
              <a:rPr lang="en-US" baseline="-25000"/>
              <a:t>tot</a:t>
            </a:r>
            <a:r>
              <a:rPr lang="en-US"/>
              <a:t>(i.e </a:t>
            </a:r>
            <a:r>
              <a:rPr lang="en-US" b="1"/>
              <a:t>explanatory power of model &lt; mean</a:t>
            </a:r>
            <a:r>
              <a:rPr lang="en-US"/>
              <a:t>), R</a:t>
            </a:r>
            <a:r>
              <a:rPr lang="en-US" baseline="30000"/>
              <a:t>2</a:t>
            </a:r>
            <a:r>
              <a:rPr lang="en-US"/>
              <a:t> will go negative. </a:t>
            </a:r>
            <a:endParaRPr/>
          </a:p>
          <a:p>
            <a: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/>
              <a:t>It is possible as we build the model on </a:t>
            </a:r>
            <a:r>
              <a:rPr lang="en-US" b="1"/>
              <a:t>train data</a:t>
            </a:r>
            <a:r>
              <a:rPr lang="en-US"/>
              <a:t> and evaluate it on </a:t>
            </a:r>
            <a:r>
              <a:rPr lang="en-US" b="1"/>
              <a:t>test data</a:t>
            </a:r>
            <a:r>
              <a:rPr lang="en-US"/>
              <a:t>!</a:t>
            </a:r>
            <a:endParaRPr/>
          </a:p>
        </p:txBody>
      </p:sp>
      <p:grpSp>
        <p:nvGrpSpPr>
          <p:cNvPr id="782" name="Google Shape;782;p34"/>
          <p:cNvGrpSpPr/>
          <p:nvPr/>
        </p:nvGrpSpPr>
        <p:grpSpPr>
          <a:xfrm>
            <a:off x="720000" y="1265364"/>
            <a:ext cx="4616627" cy="3276949"/>
            <a:chOff x="720000" y="1240697"/>
            <a:chExt cx="4616627" cy="3276949"/>
          </a:xfrm>
        </p:grpSpPr>
        <p:pic>
          <p:nvPicPr>
            <p:cNvPr id="783" name="Google Shape;783;p34" descr="A graph of a function&#10;&#10;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0000" y="1240697"/>
              <a:ext cx="4616627" cy="3276949"/>
            </a:xfrm>
            <a:prstGeom prst="rect">
              <a:avLst/>
            </a:prstGeom>
            <a:noFill/>
            <a:ln w="88900" cap="sq" cmpd="thickThin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pic>
        <p:sp>
          <p:nvSpPr>
            <p:cNvPr id="784" name="Google Shape;784;p34"/>
            <p:cNvSpPr/>
            <p:nvPr/>
          </p:nvSpPr>
          <p:spPr>
            <a:xfrm>
              <a:off x="3528680" y="1415459"/>
              <a:ext cx="1622777" cy="620888"/>
            </a:xfrm>
            <a:prstGeom prst="rect">
              <a:avLst/>
            </a:prstGeom>
            <a:solidFill>
              <a:schemeClr val="accent1"/>
            </a:solidFill>
            <a:ln w="254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5" name="Google Shape;785;p34"/>
          <p:cNvSpPr txBox="1"/>
          <p:nvPr/>
        </p:nvSpPr>
        <p:spPr>
          <a:xfrm>
            <a:off x="8515670" y="4855679"/>
            <a:ext cx="381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67B41"/>
              </a:buClr>
              <a:buSzPts val="1000"/>
              <a:buFont typeface="Arial"/>
              <a:buNone/>
            </a:pPr>
            <a:fld id="{00000000-1234-1234-1234-123412341234}" type="slidenum">
              <a:rPr lang="en-US" sz="1000" b="0" i="0" u="none" strike="noStrike" cap="none">
                <a:solidFill>
                  <a:srgbClr val="867B41"/>
                </a:solidFill>
                <a:latin typeface="Arial"/>
                <a:ea typeface="Arial"/>
                <a:cs typeface="Arial"/>
                <a:sym typeface="Arial"/>
              </a:rPr>
              <a:t>34</a:t>
            </a:fld>
            <a:endParaRPr sz="1000" b="0" i="0" u="none" strike="noStrike" cap="none">
              <a:solidFill>
                <a:srgbClr val="867B4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5"/>
          <p:cNvSpPr txBox="1"/>
          <p:nvPr/>
        </p:nvSpPr>
        <p:spPr>
          <a:xfrm>
            <a:off x="1810200" y="2008016"/>
            <a:ext cx="55236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inzel Decorative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Thank</a:t>
            </a:r>
            <a:br>
              <a:rPr lang="en-US" sz="8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</a:br>
            <a:r>
              <a:rPr lang="en-US" sz="8000" b="0" i="0" u="none" strike="noStrike" cap="none">
                <a:solidFill>
                  <a:schemeClr val="lt1"/>
                </a:solidFill>
                <a:latin typeface="Cinzel Decorative"/>
                <a:ea typeface="Cinzel Decorative"/>
                <a:cs typeface="Cinzel Decorative"/>
                <a:sym typeface="Cinzel Decorative"/>
              </a:rPr>
              <a:t>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ury Hotel Company Profile by Slidesgo">
  <a:themeElements>
    <a:clrScheme name="Simple Light">
      <a:dk1>
        <a:srgbClr val="272727"/>
      </a:dk1>
      <a:lt1>
        <a:srgbClr val="DBD5B5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DBD5B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1365</Words>
  <Application>Microsoft Office PowerPoint</Application>
  <PresentationFormat>On-screen Show (16:9)</PresentationFormat>
  <Paragraphs>329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Josefin Sans Light</vt:lpstr>
      <vt:lpstr>Josefin Sans</vt:lpstr>
      <vt:lpstr>Arial</vt:lpstr>
      <vt:lpstr>Roboto</vt:lpstr>
      <vt:lpstr>Cinzel Decorative</vt:lpstr>
      <vt:lpstr>Century</vt:lpstr>
      <vt:lpstr>Courier New</vt:lpstr>
      <vt:lpstr>Luxury Hotel Company Profile by Slidesgo</vt:lpstr>
      <vt:lpstr>Bi hotel &amp;</vt:lpstr>
      <vt:lpstr>About the Company</vt:lpstr>
      <vt:lpstr>PowerPoint Presentation</vt:lpstr>
      <vt:lpstr>About</vt:lpstr>
      <vt:lpstr>existing situation (2015-17)</vt:lpstr>
      <vt:lpstr>The problem: Booking Cancellation &amp; the impact</vt:lpstr>
      <vt:lpstr>About the</vt:lpstr>
      <vt:lpstr>Analysis:  cause of booking cancellation</vt:lpstr>
      <vt:lpstr>methodology</vt:lpstr>
      <vt:lpstr>Dealing with missing values</vt:lpstr>
      <vt:lpstr>Dealing with OUTLIERS</vt:lpstr>
      <vt:lpstr>Feature engineering</vt:lpstr>
      <vt:lpstr>Develop ML Models</vt:lpstr>
      <vt:lpstr>Logistic regression model</vt:lpstr>
      <vt:lpstr>Compare THE 4 MODELS</vt:lpstr>
      <vt:lpstr>DECISION TREE</vt:lpstr>
      <vt:lpstr>Random forest</vt:lpstr>
      <vt:lpstr>Gradient boosting</vt:lpstr>
      <vt:lpstr>Model comparison: roc</vt:lpstr>
      <vt:lpstr>Model comparison</vt:lpstr>
      <vt:lpstr>Model comparison: recall</vt:lpstr>
      <vt:lpstr>Insights &amp;</vt:lpstr>
      <vt:lpstr>Actions to take</vt:lpstr>
      <vt:lpstr>Model to deploy: gradient boosting</vt:lpstr>
      <vt:lpstr>Major findings on cancellations  </vt:lpstr>
      <vt:lpstr>Recommendation</vt:lpstr>
      <vt:lpstr>Risks &amp;</vt:lpstr>
      <vt:lpstr>Risks and Restrictions of the model</vt:lpstr>
      <vt:lpstr>next</vt:lpstr>
      <vt:lpstr>Model Measures</vt:lpstr>
      <vt:lpstr>Business Measures </vt:lpstr>
      <vt:lpstr>interesting</vt:lpstr>
      <vt:lpstr>Interesting things</vt:lpstr>
      <vt:lpstr>Why R2 go negative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 NG</dc:creator>
  <cp:lastModifiedBy>Ng, William (Contractor)</cp:lastModifiedBy>
  <cp:revision>1</cp:revision>
  <dcterms:modified xsi:type="dcterms:W3CDTF">2026-01-22T07:27:28Z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0x010100E8416C7A6D0B984A8B93E3A92A45C4D4</vt:lpwstr>
  </property>
</Properties>
</file>